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314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bwus_pdf_render/page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bwus_pdf_render/page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bwus_pdf_render/page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bwus_pdf_render/page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bwus_pdf_render/page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bwus_pdf_render/page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bwus_pdf_render/page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bwus_pdf_render/page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um_workflow_continuous_iteration_at_lbw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C7D6"/>
          </a:solidFill>
          <a:ln w="12700">
            <a:solidFill>
              <a:srgbClr val="35C7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FFD447"/>
          </a:solidFill>
          <a:ln w="12700">
            <a:solidFill>
              <a:srgbClr val="FFD4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" name="Image 0" descr="/mnt/data/lbwu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01168"/>
            <a:ext cx="50292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APT · LBWUS · Grupo 5</a:t>
            </a:r>
            <a:endParaRPr lang="en-US" sz="640" dirty="0"/>
          </a:p>
        </p:txBody>
      </p:sp>
      <p:sp>
        <p:nvSpPr>
          <p:cNvPr id="6" name="Text 3"/>
          <p:cNvSpPr/>
          <p:nvPr/>
        </p:nvSpPr>
        <p:spPr>
          <a:xfrm>
            <a:off x="11567160" y="656539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4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40" dirty="0"/>
          </a:p>
        </p:txBody>
      </p:sp>
      <p:sp>
        <p:nvSpPr>
          <p:cNvPr id="7" name="Text 4"/>
          <p:cNvSpPr/>
          <p:nvPr/>
        </p:nvSpPr>
        <p:spPr>
          <a:xfrm>
            <a:off x="502920" y="50292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trabajo por Sprints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8503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temporal: las funcionalidades se definen en cada Sprint Planning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731520" y="1207008"/>
            <a:ext cx="10698480" cy="470916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E2EC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1051560" y="1444752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35C7D6"/>
          </a:solidFill>
          <a:ln w="12700">
            <a:solidFill>
              <a:srgbClr val="35C7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088136" y="1499616"/>
            <a:ext cx="795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S1-S4</a:t>
            </a:r>
            <a:endParaRPr lang="en-US" sz="730" dirty="0"/>
          </a:p>
        </p:txBody>
      </p:sp>
      <p:sp>
        <p:nvSpPr>
          <p:cNvPr id="12" name="Text 9"/>
          <p:cNvSpPr/>
          <p:nvPr/>
        </p:nvSpPr>
        <p:spPr>
          <a:xfrm>
            <a:off x="2148840" y="146304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15223B"/>
                </a:solidFill>
              </a:rPr>
              <a:t>Fase 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3703320" y="1463040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0708C"/>
                </a:solidFill>
              </a:rPr>
              <a:t>Definición, alcance, documentación y cierre de fase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1051560" y="1856232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35C7D6"/>
          </a:solidFill>
          <a:ln w="12700">
            <a:solidFill>
              <a:srgbClr val="35C7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1088136" y="1911096"/>
            <a:ext cx="795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730" dirty="0"/>
          </a:p>
        </p:txBody>
      </p:sp>
      <p:sp>
        <p:nvSpPr>
          <p:cNvPr id="16" name="Text 13"/>
          <p:cNvSpPr/>
          <p:nvPr/>
        </p:nvSpPr>
        <p:spPr>
          <a:xfrm>
            <a:off x="2148840" y="187452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15223B"/>
                </a:solidFill>
              </a:rPr>
              <a:t>Preparación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3703320" y="1874520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0708C"/>
                </a:solidFill>
              </a:rPr>
              <a:t>Refinamiento del Product Backlog, entorno y preparación del Sprint 1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1051560" y="2267712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FFD447"/>
          </a:solidFill>
          <a:ln w="12700">
            <a:solidFill>
              <a:srgbClr val="FFD4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1088136" y="2322576"/>
            <a:ext cx="795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5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S6-S7</a:t>
            </a:r>
            <a:endParaRPr lang="en-US" sz="730" dirty="0"/>
          </a:p>
        </p:txBody>
      </p:sp>
      <p:sp>
        <p:nvSpPr>
          <p:cNvPr id="20" name="Text 17"/>
          <p:cNvSpPr/>
          <p:nvPr/>
        </p:nvSpPr>
        <p:spPr>
          <a:xfrm>
            <a:off x="2148840" y="228600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15223B"/>
                </a:solidFill>
              </a:rPr>
              <a:t>Sprint 1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3703320" y="2286000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0708C"/>
                </a:solidFill>
              </a:rPr>
              <a:t>Desarrollo, integración y pruebas</a:t>
            </a:r>
            <a:endParaRPr lang="en-US" sz="830" dirty="0"/>
          </a:p>
        </p:txBody>
      </p:sp>
      <p:sp>
        <p:nvSpPr>
          <p:cNvPr id="22" name="Shape 19"/>
          <p:cNvSpPr/>
          <p:nvPr/>
        </p:nvSpPr>
        <p:spPr>
          <a:xfrm>
            <a:off x="1051560" y="2679192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FFD447"/>
          </a:solidFill>
          <a:ln w="12700">
            <a:solidFill>
              <a:srgbClr val="FFD4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1088136" y="2734056"/>
            <a:ext cx="795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5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S8-S9</a:t>
            </a:r>
            <a:endParaRPr lang="en-US" sz="730" dirty="0"/>
          </a:p>
        </p:txBody>
      </p:sp>
      <p:sp>
        <p:nvSpPr>
          <p:cNvPr id="24" name="Text 21"/>
          <p:cNvSpPr/>
          <p:nvPr/>
        </p:nvSpPr>
        <p:spPr>
          <a:xfrm>
            <a:off x="2148840" y="269748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15223B"/>
                </a:solidFill>
              </a:rPr>
              <a:t>Sprint 2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3703320" y="2697480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0708C"/>
                </a:solidFill>
              </a:rPr>
              <a:t>Desarrollo, integración y pruebas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1051560" y="3090672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FFD447"/>
          </a:solidFill>
          <a:ln w="12700">
            <a:solidFill>
              <a:srgbClr val="FFD4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1088136" y="3145536"/>
            <a:ext cx="795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5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S10-S11</a:t>
            </a:r>
            <a:endParaRPr lang="en-US" sz="730" dirty="0"/>
          </a:p>
        </p:txBody>
      </p:sp>
      <p:sp>
        <p:nvSpPr>
          <p:cNvPr id="28" name="Text 25"/>
          <p:cNvSpPr/>
          <p:nvPr/>
        </p:nvSpPr>
        <p:spPr>
          <a:xfrm>
            <a:off x="2148840" y="31089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15223B"/>
                </a:solidFill>
              </a:rPr>
              <a:t>Sprint 3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3703320" y="3108960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0708C"/>
                </a:solidFill>
              </a:rPr>
              <a:t>Desarrollo, integración y pruebas</a:t>
            </a:r>
            <a:endParaRPr lang="en-US" sz="830" dirty="0"/>
          </a:p>
        </p:txBody>
      </p:sp>
      <p:sp>
        <p:nvSpPr>
          <p:cNvPr id="30" name="Shape 27"/>
          <p:cNvSpPr/>
          <p:nvPr/>
        </p:nvSpPr>
        <p:spPr>
          <a:xfrm>
            <a:off x="1051560" y="3502152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FFD447"/>
          </a:solidFill>
          <a:ln w="12700">
            <a:solidFill>
              <a:srgbClr val="FFD4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1088136" y="3557016"/>
            <a:ext cx="795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5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S12-S13</a:t>
            </a:r>
            <a:endParaRPr lang="en-US" sz="730" dirty="0"/>
          </a:p>
        </p:txBody>
      </p:sp>
      <p:sp>
        <p:nvSpPr>
          <p:cNvPr id="32" name="Text 29"/>
          <p:cNvSpPr/>
          <p:nvPr/>
        </p:nvSpPr>
        <p:spPr>
          <a:xfrm>
            <a:off x="2148840" y="352044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15223B"/>
                </a:solidFill>
              </a:rPr>
              <a:t>Sprint 4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3703320" y="3520440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0708C"/>
                </a:solidFill>
              </a:rPr>
              <a:t>Desarrollo, integración y pruebas</a:t>
            </a:r>
            <a:endParaRPr lang="en-US" sz="830" dirty="0"/>
          </a:p>
        </p:txBody>
      </p:sp>
      <p:sp>
        <p:nvSpPr>
          <p:cNvPr id="34" name="Shape 31"/>
          <p:cNvSpPr/>
          <p:nvPr/>
        </p:nvSpPr>
        <p:spPr>
          <a:xfrm>
            <a:off x="1051560" y="3913632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FFD447"/>
          </a:solidFill>
          <a:ln w="12700">
            <a:solidFill>
              <a:srgbClr val="FFD4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/>
          <p:nvPr/>
        </p:nvSpPr>
        <p:spPr>
          <a:xfrm>
            <a:off x="1088136" y="3968496"/>
            <a:ext cx="795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5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S14-S15</a:t>
            </a:r>
            <a:endParaRPr lang="en-US" sz="730" dirty="0"/>
          </a:p>
        </p:txBody>
      </p:sp>
      <p:sp>
        <p:nvSpPr>
          <p:cNvPr id="36" name="Text 33"/>
          <p:cNvSpPr/>
          <p:nvPr/>
        </p:nvSpPr>
        <p:spPr>
          <a:xfrm>
            <a:off x="2148840" y="393192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15223B"/>
                </a:solidFill>
              </a:rPr>
              <a:t>Sprint 5</a:t>
            </a:r>
            <a:endParaRPr lang="en-US" sz="840" dirty="0"/>
          </a:p>
        </p:txBody>
      </p:sp>
      <p:sp>
        <p:nvSpPr>
          <p:cNvPr id="37" name="Text 34"/>
          <p:cNvSpPr/>
          <p:nvPr/>
        </p:nvSpPr>
        <p:spPr>
          <a:xfrm>
            <a:off x="3703320" y="3931920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0708C"/>
                </a:solidFill>
              </a:rPr>
              <a:t>Desarrollo, integración y pruebas</a:t>
            </a:r>
            <a:endParaRPr lang="en-US" sz="830" dirty="0"/>
          </a:p>
        </p:txBody>
      </p:sp>
      <p:sp>
        <p:nvSpPr>
          <p:cNvPr id="38" name="Shape 35"/>
          <p:cNvSpPr/>
          <p:nvPr/>
        </p:nvSpPr>
        <p:spPr>
          <a:xfrm>
            <a:off x="1051560" y="4325112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66D34E"/>
          </a:solidFill>
          <a:ln w="12700">
            <a:solidFill>
              <a:srgbClr val="66D3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6"/>
          <p:cNvSpPr/>
          <p:nvPr/>
        </p:nvSpPr>
        <p:spPr>
          <a:xfrm>
            <a:off x="1088136" y="4379976"/>
            <a:ext cx="795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</a:t>
            </a:r>
            <a:endParaRPr lang="en-US" sz="730" dirty="0"/>
          </a:p>
        </p:txBody>
      </p:sp>
      <p:sp>
        <p:nvSpPr>
          <p:cNvPr id="40" name="Text 37"/>
          <p:cNvSpPr/>
          <p:nvPr/>
        </p:nvSpPr>
        <p:spPr>
          <a:xfrm>
            <a:off x="2148840" y="434340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15223B"/>
                </a:solidFill>
              </a:rPr>
              <a:t>Validación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3703320" y="4343400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0708C"/>
                </a:solidFill>
              </a:rPr>
              <a:t>Integración final, regresión y mejoras</a:t>
            </a:r>
            <a:endParaRPr lang="en-US" sz="830" dirty="0"/>
          </a:p>
        </p:txBody>
      </p:sp>
      <p:sp>
        <p:nvSpPr>
          <p:cNvPr id="42" name="Shape 39"/>
          <p:cNvSpPr/>
          <p:nvPr/>
        </p:nvSpPr>
        <p:spPr>
          <a:xfrm>
            <a:off x="1051560" y="4736592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66D34E"/>
          </a:solidFill>
          <a:ln w="12700">
            <a:solidFill>
              <a:srgbClr val="66D3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0"/>
          <p:cNvSpPr/>
          <p:nvPr/>
        </p:nvSpPr>
        <p:spPr>
          <a:xfrm>
            <a:off x="1088136" y="4791456"/>
            <a:ext cx="795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</a:t>
            </a:r>
            <a:endParaRPr lang="en-US" sz="730" dirty="0"/>
          </a:p>
        </p:txBody>
      </p:sp>
      <p:sp>
        <p:nvSpPr>
          <p:cNvPr id="44" name="Text 41"/>
          <p:cNvSpPr/>
          <p:nvPr/>
        </p:nvSpPr>
        <p:spPr>
          <a:xfrm>
            <a:off x="2148840" y="475488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15223B"/>
                </a:solidFill>
              </a:rPr>
              <a:t>Despliegue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3703320" y="4754880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0708C"/>
                </a:solidFill>
              </a:rPr>
              <a:t>Railway y verificación operativa</a:t>
            </a:r>
            <a:endParaRPr lang="en-US" sz="830" dirty="0"/>
          </a:p>
        </p:txBody>
      </p:sp>
      <p:sp>
        <p:nvSpPr>
          <p:cNvPr id="46" name="Shape 43"/>
          <p:cNvSpPr/>
          <p:nvPr/>
        </p:nvSpPr>
        <p:spPr>
          <a:xfrm>
            <a:off x="1051560" y="5148072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66D34E"/>
          </a:solidFill>
          <a:ln w="12700">
            <a:solidFill>
              <a:srgbClr val="66D3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4"/>
          <p:cNvSpPr/>
          <p:nvPr/>
        </p:nvSpPr>
        <p:spPr>
          <a:xfrm>
            <a:off x="1088136" y="5202936"/>
            <a:ext cx="795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</a:t>
            </a:r>
            <a:endParaRPr lang="en-US" sz="730" dirty="0"/>
          </a:p>
        </p:txBody>
      </p:sp>
      <p:sp>
        <p:nvSpPr>
          <p:cNvPr id="48" name="Text 45"/>
          <p:cNvSpPr/>
          <p:nvPr/>
        </p:nvSpPr>
        <p:spPr>
          <a:xfrm>
            <a:off x="2148840" y="51663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15223B"/>
                </a:solidFill>
              </a:rPr>
              <a:t>Cierre</a:t>
            </a:r>
            <a:endParaRPr lang="en-US" sz="840" dirty="0"/>
          </a:p>
        </p:txBody>
      </p:sp>
      <p:sp>
        <p:nvSpPr>
          <p:cNvPr id="49" name="Text 46"/>
          <p:cNvSpPr/>
          <p:nvPr/>
        </p:nvSpPr>
        <p:spPr>
          <a:xfrm>
            <a:off x="3703320" y="5166360"/>
            <a:ext cx="6355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0708C"/>
                </a:solidFill>
              </a:rPr>
              <a:t>Presentación y entrega final</a:t>
            </a:r>
            <a:endParaRPr lang="en-US" sz="830" dirty="0"/>
          </a:p>
        </p:txBody>
      </p:sp>
      <p:sp>
        <p:nvSpPr>
          <p:cNvPr id="50" name="Shape 47"/>
          <p:cNvSpPr/>
          <p:nvPr/>
        </p:nvSpPr>
        <p:spPr>
          <a:xfrm>
            <a:off x="731520" y="6053328"/>
            <a:ext cx="10698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7E3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Shape 48"/>
          <p:cNvSpPr/>
          <p:nvPr/>
        </p:nvSpPr>
        <p:spPr>
          <a:xfrm>
            <a:off x="731520" y="6053328"/>
            <a:ext cx="64008" cy="457200"/>
          </a:xfrm>
          <a:prstGeom prst="rect">
            <a:avLst/>
          </a:prstGeom>
          <a:solidFill>
            <a:srgbClr val="35C7D6"/>
          </a:solidFill>
          <a:ln w="12700">
            <a:solidFill>
              <a:srgbClr val="35C7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2" name="Text 49"/>
          <p:cNvSpPr/>
          <p:nvPr/>
        </p:nvSpPr>
        <p:spPr>
          <a:xfrm>
            <a:off x="896112" y="6199632"/>
            <a:ext cx="10369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5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Scrum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896112" y="6620256"/>
            <a:ext cx="1036929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D2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Gantt planifica periodos. El contenido de cada Sprint se selecciona en Sprint Planning según Product Backlog, capacidad del equipo y retroalimentación.</a:t>
            </a:r>
            <a:endParaRPr lang="en-US" sz="7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C7D6"/>
          </a:solidFill>
          <a:ln w="12700">
            <a:solidFill>
              <a:srgbClr val="35C7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FFD447"/>
          </a:solidFill>
          <a:ln w="12700">
            <a:solidFill>
              <a:srgbClr val="FFD4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" name="Image 0" descr="/mnt/data/lbwu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01168"/>
            <a:ext cx="50292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APT · LBWUS · Grupo 5</a:t>
            </a:r>
            <a:endParaRPr lang="en-US" sz="640" dirty="0"/>
          </a:p>
        </p:txBody>
      </p:sp>
      <p:sp>
        <p:nvSpPr>
          <p:cNvPr id="6" name="Text 3"/>
          <p:cNvSpPr/>
          <p:nvPr/>
        </p:nvSpPr>
        <p:spPr>
          <a:xfrm>
            <a:off x="11567160" y="656539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4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40" dirty="0"/>
          </a:p>
        </p:txBody>
      </p:sp>
      <p:sp>
        <p:nvSpPr>
          <p:cNvPr id="7" name="Text 4"/>
          <p:cNvSpPr/>
          <p:nvPr/>
        </p:nvSpPr>
        <p:spPr>
          <a:xfrm>
            <a:off x="502920" y="50292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 Gantt y Sprints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8503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temporal corregida: se planifican periodos, no tareas cerradas por Sprint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502920" y="1143000"/>
            <a:ext cx="11109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DE8F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0" name="Image 1" descr="/mnt/data/gantt_actualizada_lbw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933" y="1325880"/>
            <a:ext cx="7493934" cy="41605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1520" y="5833872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7E3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8"/>
          <p:cNvSpPr/>
          <p:nvPr/>
        </p:nvSpPr>
        <p:spPr>
          <a:xfrm>
            <a:off x="731520" y="5833872"/>
            <a:ext cx="64008" cy="640080"/>
          </a:xfrm>
          <a:prstGeom prst="rect">
            <a:avLst/>
          </a:prstGeom>
          <a:solidFill>
            <a:srgbClr val="FFD447"/>
          </a:solidFill>
          <a:ln w="12700">
            <a:solidFill>
              <a:srgbClr val="FFD4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/>
          <p:nvPr/>
        </p:nvSpPr>
        <p:spPr>
          <a:xfrm>
            <a:off x="896112" y="5980176"/>
            <a:ext cx="10369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5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realizado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96112" y="6400800"/>
            <a:ext cx="1036929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D2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Carta Gantt representa una proyección temporal. El alcance y las actividades específicas de cada Sprint no se determinan previamente: se seleccionan durante cada Sprint Planning.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C7D6"/>
          </a:solidFill>
          <a:ln w="12700">
            <a:solidFill>
              <a:srgbClr val="35C7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FFD447"/>
          </a:solidFill>
          <a:ln w="12700">
            <a:solidFill>
              <a:srgbClr val="FFD4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" name="Image 0" descr="/mnt/data/lbwu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01168"/>
            <a:ext cx="50292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APT · LBWUS · Grupo 5</a:t>
            </a:r>
            <a:endParaRPr lang="en-US" sz="640" dirty="0"/>
          </a:p>
        </p:txBody>
      </p:sp>
      <p:sp>
        <p:nvSpPr>
          <p:cNvPr id="6" name="Text 3"/>
          <p:cNvSpPr/>
          <p:nvPr/>
        </p:nvSpPr>
        <p:spPr>
          <a:xfrm>
            <a:off x="11567160" y="656539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4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40" dirty="0"/>
          </a:p>
        </p:txBody>
      </p:sp>
      <p:sp>
        <p:nvSpPr>
          <p:cNvPr id="7" name="Text 4"/>
          <p:cNvSpPr/>
          <p:nvPr/>
        </p:nvSpPr>
        <p:spPr>
          <a:xfrm>
            <a:off x="502920" y="50292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Factibilidad y gestión de riesgos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8503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07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disponibles y posibles obstaculizadores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914400" y="14173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C7D6"/>
                </a:solidFill>
              </a:rPr>
              <a:t>18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14400" y="181051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10" dirty="0">
                <a:solidFill>
                  <a:srgbClr val="60708C"/>
                </a:solidFill>
              </a:rPr>
              <a:t>semanas</a:t>
            </a:r>
            <a:endParaRPr lang="en-US" sz="710" dirty="0"/>
          </a:p>
        </p:txBody>
      </p:sp>
      <p:sp>
        <p:nvSpPr>
          <p:cNvPr id="11" name="Text 8"/>
          <p:cNvSpPr/>
          <p:nvPr/>
        </p:nvSpPr>
        <p:spPr>
          <a:xfrm>
            <a:off x="2148840" y="14173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B3FF2"/>
                </a:solidFill>
              </a:rPr>
              <a:t>3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148840" y="181051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10" dirty="0">
                <a:solidFill>
                  <a:srgbClr val="60708C"/>
                </a:solidFill>
              </a:rPr>
              <a:t>integrantes</a:t>
            </a:r>
            <a:endParaRPr lang="en-US" sz="710" dirty="0"/>
          </a:p>
        </p:txBody>
      </p:sp>
      <p:sp>
        <p:nvSpPr>
          <p:cNvPr id="13" name="Text 10"/>
          <p:cNvSpPr/>
          <p:nvPr/>
        </p:nvSpPr>
        <p:spPr>
          <a:xfrm>
            <a:off x="3383280" y="14173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223B"/>
                </a:solidFill>
              </a:rPr>
              <a:t>12h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383280" y="181051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10" dirty="0">
                <a:solidFill>
                  <a:srgbClr val="60708C"/>
                </a:solidFill>
              </a:rPr>
              <a:t>semanales</a:t>
            </a:r>
            <a:endParaRPr lang="en-US" sz="710" dirty="0"/>
          </a:p>
        </p:txBody>
      </p:sp>
      <p:sp>
        <p:nvSpPr>
          <p:cNvPr id="15" name="Shape 12"/>
          <p:cNvSpPr/>
          <p:nvPr/>
        </p:nvSpPr>
        <p:spPr>
          <a:xfrm>
            <a:off x="4800600" y="1234440"/>
            <a:ext cx="6172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7E3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3"/>
          <p:cNvSpPr/>
          <p:nvPr/>
        </p:nvSpPr>
        <p:spPr>
          <a:xfrm>
            <a:off x="4800600" y="1234440"/>
            <a:ext cx="64008" cy="1097280"/>
          </a:xfrm>
          <a:prstGeom prst="rect">
            <a:avLst/>
          </a:prstGeom>
          <a:solidFill>
            <a:srgbClr val="144C7F"/>
          </a:solidFill>
          <a:ln w="12700">
            <a:solidFill>
              <a:srgbClr val="144C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4965192" y="1380744"/>
            <a:ext cx="5843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5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principales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965192" y="1801368"/>
            <a:ext cx="58430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D2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Computadores · Internet · Jira · GitHub · Figma · Python · Django · SQLite actual · MongoDB objetivo · Transbank · Railway · Visual Studio Code / Antigravity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31520" y="324612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7E3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7"/>
          <p:cNvSpPr/>
          <p:nvPr/>
        </p:nvSpPr>
        <p:spPr>
          <a:xfrm>
            <a:off x="731520" y="3246120"/>
            <a:ext cx="64008" cy="19659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896112" y="3392424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5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identificados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96112" y="3813048"/>
            <a:ext cx="46542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D2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de tiempo y coordinación del equipo.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D2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Complejidad de funcionalidades e integración con servicios externos.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D2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Posibles incidencias durante pruebas o despliegue.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00800" y="324612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7E3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1"/>
          <p:cNvSpPr/>
          <p:nvPr/>
        </p:nvSpPr>
        <p:spPr>
          <a:xfrm>
            <a:off x="6400800" y="3246120"/>
            <a:ext cx="64008" cy="1965960"/>
          </a:xfrm>
          <a:prstGeom prst="rect">
            <a:avLst/>
          </a:prstGeom>
          <a:solidFill>
            <a:srgbClr val="66D34E"/>
          </a:solidFill>
          <a:ln w="12700">
            <a:solidFill>
              <a:srgbClr val="66D3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6565392" y="3392424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5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65392" y="3813048"/>
            <a:ext cx="46542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D2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Priorización de actividades.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D2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periódico por Sprints.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D2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progresivas y ajustes de alcance.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D2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continua mediante Jira y GitHub.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bwus_pdf_render/page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Microsoft Macintosh PowerPoint</Application>
  <PresentationFormat>Panorámica</PresentationFormat>
  <Paragraphs>77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LBWUS - Presentación actualizada</dc:title>
  <dc:subject>Presentación actualizada Proyecto APT LBWUS</dc:subject>
  <dc:creator>Grupo 5 - LBWUS</dc:creator>
  <cp:lastModifiedBy>FRANCHESKA . CISTERNA PORRAS</cp:lastModifiedBy>
  <cp:revision>3</cp:revision>
  <dcterms:created xsi:type="dcterms:W3CDTF">2026-10-03T09:47:54Z</dcterms:created>
  <dcterms:modified xsi:type="dcterms:W3CDTF">2026-10-03T09:55:44Z</dcterms:modified>
</cp:coreProperties>
</file>