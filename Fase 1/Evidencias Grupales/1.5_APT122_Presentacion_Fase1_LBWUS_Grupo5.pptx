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0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Aptos Bold" charset="1" panose="020B0004020202020204"/>
      <p:regular r:id="rId24"/>
    </p:embeddedFont>
    <p:embeddedFont>
      <p:font typeface="Aptos" charset="1" panose="020B0004020202020204"/>
      <p:regular r:id="rId25"/>
    </p:embeddedFont>
    <p:embeddedFont>
      <p:font typeface="Aptos Italics" charset="1" panose="020B0004020202090204"/>
      <p:regular r:id="rId33"/>
    </p:embeddedFont>
    <p:embeddedFont>
      <p:font typeface="Helvetica World Bold" charset="1" panose="020B0800040000020004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notesMasters/notesMaster1.xml" Type="http://schemas.openxmlformats.org/officeDocument/2006/relationships/notesMaster"/><Relationship Id="rId21" Target="theme/theme2.xml" Type="http://schemas.openxmlformats.org/officeDocument/2006/relationships/theme"/><Relationship Id="rId22" Target="notesSlides/notesSlide1.xml" Type="http://schemas.openxmlformats.org/officeDocument/2006/relationships/notesSlide"/><Relationship Id="rId23" Target="notesSlides/notesSlide2.xml" Type="http://schemas.openxmlformats.org/officeDocument/2006/relationships/notes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notesSlides/notesSlide3.xml" Type="http://schemas.openxmlformats.org/officeDocument/2006/relationships/notesSlide"/><Relationship Id="rId27" Target="notesSlides/notesSlide4.xml" Type="http://schemas.openxmlformats.org/officeDocument/2006/relationships/notesSlide"/><Relationship Id="rId28" Target="notesSlides/notesSlide5.xml" Type="http://schemas.openxmlformats.org/officeDocument/2006/relationships/notesSlide"/><Relationship Id="rId29" Target="notesSlides/notesSlide6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7.xml" Type="http://schemas.openxmlformats.org/officeDocument/2006/relationships/notesSlide"/><Relationship Id="rId31" Target="notesSlides/notesSlide8.xml" Type="http://schemas.openxmlformats.org/officeDocument/2006/relationships/notesSlide"/><Relationship Id="rId32" Target="notesSlides/notesSlide9.xml" Type="http://schemas.openxmlformats.org/officeDocument/2006/relationships/notesSlide"/><Relationship Id="rId33" Target="fonts/font33.fntdata" Type="http://schemas.openxmlformats.org/officeDocument/2006/relationships/font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38" Target="notesSlides/notesSlide14.xml" Type="http://schemas.openxmlformats.org/officeDocument/2006/relationships/notesSlide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3.png" Type="http://schemas.openxmlformats.org/officeDocument/2006/relationships/image"/><Relationship Id="rId4" Target="../media/image2.jpeg" Type="http://schemas.openxmlformats.org/officeDocument/2006/relationships/image"/><Relationship Id="rId5" Target="../media/image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Problema y oportunidad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Dificultad para encontrar apoyo académico en un solo espacio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87552" y="1988820"/>
            <a:ext cx="8366760" cy="685800"/>
            <a:chOff x="0" y="0"/>
            <a:chExt cx="11155680" cy="91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1155680" cy="914400"/>
            </a:xfrm>
            <a:custGeom>
              <a:avLst/>
              <a:gdLst/>
              <a:ahLst/>
              <a:cxnLst/>
              <a:rect r="r" b="b" t="t" l="l"/>
              <a:pathLst>
                <a:path h="914400" w="11155680">
                  <a:moveTo>
                    <a:pt x="0" y="0"/>
                  </a:moveTo>
                  <a:lnTo>
                    <a:pt x="11155680" y="0"/>
                  </a:lnTo>
                  <a:lnTo>
                    <a:pt x="111556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7717" r="0" b="-187717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11155680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Hoy el proceso está fragmentado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179576" y="2990088"/>
            <a:ext cx="7955280" cy="3401568"/>
            <a:chOff x="0" y="0"/>
            <a:chExt cx="10607040" cy="453542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607040" cy="4535424"/>
            </a:xfrm>
            <a:custGeom>
              <a:avLst/>
              <a:gdLst/>
              <a:ahLst/>
              <a:cxnLst/>
              <a:rect r="r" b="b" t="t" l="l"/>
              <a:pathLst>
                <a:path h="4535424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4535424"/>
                  </a:lnTo>
                  <a:lnTo>
                    <a:pt x="0" y="45354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860" t="0" r="-486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10607040" cy="453542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17213A"/>
                  </a:solidFill>
                  <a:latin typeface="Aptos"/>
                  <a:ea typeface="Aptos"/>
                  <a:cs typeface="Aptos"/>
                  <a:sym typeface="Aptos"/>
                </a:rPr>
                <a:t>Los estudiantes deben buscar alternativas en distintos canales.</a:t>
              </a:r>
            </a:p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17213A"/>
                  </a:solidFill>
                  <a:latin typeface="Aptos"/>
                  <a:ea typeface="Aptos"/>
                  <a:cs typeface="Aptos"/>
                  <a:sym typeface="Aptos"/>
                </a:rPr>
                <a:t>La comparación por especialidad, disponibilidad, modalidad y precio no es simple.</a:t>
              </a:r>
            </a:p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17213A"/>
                  </a:solidFill>
                  <a:latin typeface="Aptos"/>
                  <a:ea typeface="Aptos"/>
                  <a:cs typeface="Aptos"/>
                  <a:sym typeface="Aptos"/>
                </a:rPr>
                <a:t>Profesores e ingenieros no cuentan necesariamente con un espacio centralizado para ofrecer tutorías.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867900" y="1844040"/>
            <a:ext cx="6118860" cy="4884420"/>
            <a:chOff x="0" y="0"/>
            <a:chExt cx="8158480" cy="65125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58480" cy="6512560"/>
            </a:xfrm>
            <a:custGeom>
              <a:avLst/>
              <a:gdLst/>
              <a:ahLst/>
              <a:cxnLst/>
              <a:rect r="r" b="b" t="t" l="l"/>
              <a:pathLst>
                <a:path h="6512560" w="8158480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8011668" y="0"/>
                  </a:lnTo>
                  <a:cubicBezTo>
                    <a:pt x="8092694" y="0"/>
                    <a:pt x="8158480" y="65659"/>
                    <a:pt x="8158480" y="146812"/>
                  </a:cubicBezTo>
                  <a:lnTo>
                    <a:pt x="8158480" y="6365748"/>
                  </a:lnTo>
                  <a:cubicBezTo>
                    <a:pt x="8158480" y="6446774"/>
                    <a:pt x="8092822" y="6512560"/>
                    <a:pt x="8011668" y="6512560"/>
                  </a:cubicBezTo>
                  <a:lnTo>
                    <a:pt x="146812" y="6512560"/>
                  </a:lnTo>
                  <a:cubicBezTo>
                    <a:pt x="65659" y="6512560"/>
                    <a:pt x="0" y="6446901"/>
                    <a:pt x="0" y="6365748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0355580" y="2276856"/>
            <a:ext cx="5212080" cy="411480"/>
            <a:chOff x="0" y="0"/>
            <a:chExt cx="6949440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0" cy="548640"/>
            </a:xfrm>
            <a:custGeom>
              <a:avLst/>
              <a:gdLst/>
              <a:ahLst/>
              <a:cxnLst/>
              <a:rect r="r" b="b" t="t" l="l"/>
              <a:pathLst>
                <a:path h="548640" w="6949440">
                  <a:moveTo>
                    <a:pt x="0" y="0"/>
                  </a:moveTo>
                  <a:lnTo>
                    <a:pt x="6949440" y="0"/>
                  </a:lnTo>
                  <a:lnTo>
                    <a:pt x="69494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6810" r="0" b="-19681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6949440" cy="548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Necesidad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561320" y="2962656"/>
            <a:ext cx="4800600" cy="480060"/>
            <a:chOff x="0" y="0"/>
            <a:chExt cx="6400800" cy="6400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40080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640080"/>
                  </a:lnTo>
                  <a:lnTo>
                    <a:pt x="0" y="640080"/>
                  </a:lnTo>
                  <a:close/>
                </a:path>
              </a:pathLst>
            </a:custGeom>
            <a:solidFill>
              <a:srgbClr val="E8FBFD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6400800" cy="640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¿Dónde busco?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0561320" y="3730752"/>
            <a:ext cx="4800600" cy="480060"/>
            <a:chOff x="0" y="0"/>
            <a:chExt cx="6400800" cy="640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40080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640080"/>
                  </a:lnTo>
                  <a:lnTo>
                    <a:pt x="0" y="640080"/>
                  </a:lnTo>
                  <a:close/>
                </a:path>
              </a:pathLst>
            </a:custGeom>
            <a:solidFill>
              <a:srgbClr val="FFF8DE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6400800" cy="640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¿Cuánto cuesta?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0561320" y="4498848"/>
            <a:ext cx="4800600" cy="480060"/>
            <a:chOff x="0" y="0"/>
            <a:chExt cx="6400800" cy="6400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40080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640080"/>
                  </a:lnTo>
                  <a:lnTo>
                    <a:pt x="0" y="640080"/>
                  </a:lnTo>
                  <a:close/>
                </a:path>
              </a:pathLst>
            </a:custGeom>
            <a:solidFill>
              <a:srgbClr val="ECFBEF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6400800" cy="640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¿Tiene horario?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561320" y="5266944"/>
            <a:ext cx="4800600" cy="480060"/>
            <a:chOff x="0" y="0"/>
            <a:chExt cx="6400800" cy="6400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40080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640080"/>
                  </a:lnTo>
                  <a:lnTo>
                    <a:pt x="0" y="640080"/>
                  </a:lnTo>
                  <a:close/>
                </a:path>
              </a:pathLst>
            </a:custGeom>
            <a:solidFill>
              <a:srgbClr val="FFF1F1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0"/>
              <a:ext cx="6400800" cy="640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¿Es confiable?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152144" y="7708392"/>
            <a:ext cx="16116300" cy="905256"/>
            <a:chOff x="0" y="0"/>
            <a:chExt cx="21488400" cy="120700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1488400" cy="1207008"/>
            </a:xfrm>
            <a:custGeom>
              <a:avLst/>
              <a:gdLst/>
              <a:ahLst/>
              <a:cxnLst/>
              <a:rect r="r" b="b" t="t" l="l"/>
              <a:pathLst>
                <a:path h="1207008" w="21488400">
                  <a:moveTo>
                    <a:pt x="0" y="0"/>
                  </a:moveTo>
                  <a:lnTo>
                    <a:pt x="21488400" y="0"/>
                  </a:lnTo>
                  <a:lnTo>
                    <a:pt x="21488400" y="1207008"/>
                  </a:lnTo>
                  <a:lnTo>
                    <a:pt x="0" y="1207008"/>
                  </a:lnTo>
                  <a:close/>
                </a:path>
              </a:pathLst>
            </a:custGeom>
            <a:solidFill>
              <a:srgbClr val="12355B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21488400" cy="1207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29"/>
                </a:lnSpc>
              </a:pPr>
              <a:r>
                <a:rPr lang="en-US" sz="2775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Oportunidad: una plataforma que conecte demanda y oferta de apoyo académico.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¿Qué es LBWUS?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Learn Better With Us: una solución web para gestionar tutorías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3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34440" y="1920240"/>
            <a:ext cx="15224760" cy="1014984"/>
            <a:chOff x="0" y="0"/>
            <a:chExt cx="20299680" cy="135331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299680" cy="1353312"/>
            </a:xfrm>
            <a:custGeom>
              <a:avLst/>
              <a:gdLst/>
              <a:ahLst/>
              <a:cxnLst/>
              <a:rect r="r" b="b" t="t" l="l"/>
              <a:pathLst>
                <a:path h="1353312" w="20299680">
                  <a:moveTo>
                    <a:pt x="0" y="0"/>
                  </a:moveTo>
                  <a:lnTo>
                    <a:pt x="20299680" y="0"/>
                  </a:lnTo>
                  <a:lnTo>
                    <a:pt x="20299680" y="1353312"/>
                  </a:lnTo>
                  <a:lnTo>
                    <a:pt x="0" y="13533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0299680" cy="13533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779"/>
                </a:lnSpc>
              </a:pPr>
              <a:r>
                <a:rPr lang="en-US" sz="315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Plataforma web que conecta estudiantes de Chile con profesores e ingenieros que ofrecen tutorías o clases particulares.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224915" y="4132707"/>
            <a:ext cx="814578" cy="814578"/>
            <a:chOff x="0" y="0"/>
            <a:chExt cx="1086104" cy="108610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86104" cy="1086104"/>
            </a:xfrm>
            <a:custGeom>
              <a:avLst/>
              <a:gdLst/>
              <a:ahLst/>
              <a:cxnLst/>
              <a:rect r="r" b="b" t="t" l="l"/>
              <a:pathLst>
                <a:path h="1086104" w="1086104">
                  <a:moveTo>
                    <a:pt x="0" y="543052"/>
                  </a:moveTo>
                  <a:cubicBezTo>
                    <a:pt x="0" y="243078"/>
                    <a:pt x="243078" y="0"/>
                    <a:pt x="543052" y="0"/>
                  </a:cubicBezTo>
                  <a:cubicBezTo>
                    <a:pt x="843026" y="0"/>
                    <a:pt x="1086104" y="243078"/>
                    <a:pt x="1086104" y="543052"/>
                  </a:cubicBezTo>
                  <a:cubicBezTo>
                    <a:pt x="1086104" y="843026"/>
                    <a:pt x="843026" y="1086104"/>
                    <a:pt x="543052" y="1086104"/>
                  </a:cubicBezTo>
                  <a:cubicBezTo>
                    <a:pt x="243078" y="1086104"/>
                    <a:pt x="0" y="843026"/>
                    <a:pt x="0" y="543052"/>
                  </a:cubicBez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234440" y="4210812"/>
            <a:ext cx="795528" cy="603504"/>
            <a:chOff x="0" y="0"/>
            <a:chExt cx="1060704" cy="80467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0704" cy="804672"/>
            </a:xfrm>
            <a:custGeom>
              <a:avLst/>
              <a:gdLst/>
              <a:ahLst/>
              <a:cxnLst/>
              <a:rect r="r" b="b" t="t" l="l"/>
              <a:pathLst>
                <a:path h="804672" w="1060704">
                  <a:moveTo>
                    <a:pt x="0" y="0"/>
                  </a:moveTo>
                  <a:lnTo>
                    <a:pt x="1060704" y="0"/>
                  </a:lnTo>
                  <a:lnTo>
                    <a:pt x="106070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7333" t="0" r="-47333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1060704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2263140" y="4142232"/>
            <a:ext cx="2400300" cy="384048"/>
            <a:chOff x="0" y="0"/>
            <a:chExt cx="3200400" cy="5120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200400" cy="512064"/>
            </a:xfrm>
            <a:custGeom>
              <a:avLst/>
              <a:gdLst/>
              <a:ahLst/>
              <a:cxnLst/>
              <a:rect r="r" b="b" t="t" l="l"/>
              <a:pathLst>
                <a:path h="512064" w="3200400">
                  <a:moveTo>
                    <a:pt x="0" y="0"/>
                  </a:moveTo>
                  <a:lnTo>
                    <a:pt x="3200400" y="0"/>
                  </a:lnTo>
                  <a:lnTo>
                    <a:pt x="320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320040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Buscar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2263140" y="4636008"/>
            <a:ext cx="2537460" cy="630936"/>
            <a:chOff x="0" y="0"/>
            <a:chExt cx="3383280" cy="84124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383280" cy="841248"/>
            </a:xfrm>
            <a:custGeom>
              <a:avLst/>
              <a:gdLst/>
              <a:ahLst/>
              <a:cxnLst/>
              <a:rect r="r" b="b" t="t" l="l"/>
              <a:pathLst>
                <a:path h="841248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63" r="0" b="-28363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3383280" cy="8507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especialidad, modalidad y precio</a:t>
              </a:r>
            </a:p>
          </p:txBody>
        </p:sp>
      </p:grpSp>
      <p:sp>
        <p:nvSpPr>
          <p:cNvPr name="AutoShape 34" id="34"/>
          <p:cNvSpPr/>
          <p:nvPr/>
        </p:nvSpPr>
        <p:spPr>
          <a:xfrm rot="180780">
            <a:off x="4855493" y="4521518"/>
            <a:ext cx="507435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5" id="35"/>
          <p:cNvGrpSpPr/>
          <p:nvPr/>
        </p:nvGrpSpPr>
        <p:grpSpPr>
          <a:xfrm rot="0">
            <a:off x="5408295" y="4132707"/>
            <a:ext cx="814578" cy="814578"/>
            <a:chOff x="0" y="0"/>
            <a:chExt cx="1086104" cy="108610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86104" cy="1086104"/>
            </a:xfrm>
            <a:custGeom>
              <a:avLst/>
              <a:gdLst/>
              <a:ahLst/>
              <a:cxnLst/>
              <a:rect r="r" b="b" t="t" l="l"/>
              <a:pathLst>
                <a:path h="1086104" w="1086104">
                  <a:moveTo>
                    <a:pt x="0" y="543052"/>
                  </a:moveTo>
                  <a:cubicBezTo>
                    <a:pt x="0" y="243078"/>
                    <a:pt x="243078" y="0"/>
                    <a:pt x="543052" y="0"/>
                  </a:cubicBezTo>
                  <a:cubicBezTo>
                    <a:pt x="843026" y="0"/>
                    <a:pt x="1086104" y="243078"/>
                    <a:pt x="1086104" y="543052"/>
                  </a:cubicBezTo>
                  <a:cubicBezTo>
                    <a:pt x="1086104" y="843026"/>
                    <a:pt x="843026" y="1086104"/>
                    <a:pt x="543052" y="1086104"/>
                  </a:cubicBezTo>
                  <a:cubicBezTo>
                    <a:pt x="243078" y="1086104"/>
                    <a:pt x="0" y="843026"/>
                    <a:pt x="0" y="543052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5417820" y="4210812"/>
            <a:ext cx="795528" cy="603504"/>
            <a:chOff x="0" y="0"/>
            <a:chExt cx="1060704" cy="80467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60704" cy="804672"/>
            </a:xfrm>
            <a:custGeom>
              <a:avLst/>
              <a:gdLst/>
              <a:ahLst/>
              <a:cxnLst/>
              <a:rect r="r" b="b" t="t" l="l"/>
              <a:pathLst>
                <a:path h="804672" w="1060704">
                  <a:moveTo>
                    <a:pt x="0" y="0"/>
                  </a:moveTo>
                  <a:lnTo>
                    <a:pt x="1060704" y="0"/>
                  </a:lnTo>
                  <a:lnTo>
                    <a:pt x="106070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7333" t="0" r="-47333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1060704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2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6446520" y="4142232"/>
            <a:ext cx="2400300" cy="384048"/>
            <a:chOff x="0" y="0"/>
            <a:chExt cx="3200400" cy="51206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200400" cy="512064"/>
            </a:xfrm>
            <a:custGeom>
              <a:avLst/>
              <a:gdLst/>
              <a:ahLst/>
              <a:cxnLst/>
              <a:rect r="r" b="b" t="t" l="l"/>
              <a:pathLst>
                <a:path h="512064" w="3200400">
                  <a:moveTo>
                    <a:pt x="0" y="0"/>
                  </a:moveTo>
                  <a:lnTo>
                    <a:pt x="3200400" y="0"/>
                  </a:lnTo>
                  <a:lnTo>
                    <a:pt x="320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0"/>
              <a:ext cx="320040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Comparar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6446520" y="4636008"/>
            <a:ext cx="2537460" cy="630936"/>
            <a:chOff x="0" y="0"/>
            <a:chExt cx="3383280" cy="84124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383280" cy="841248"/>
            </a:xfrm>
            <a:custGeom>
              <a:avLst/>
              <a:gdLst/>
              <a:ahLst/>
              <a:cxnLst/>
              <a:rect r="r" b="b" t="t" l="l"/>
              <a:pathLst>
                <a:path h="841248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63" r="0" b="-28363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3383280" cy="8507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perfiles y disponibilidad</a:t>
              </a:r>
            </a:p>
          </p:txBody>
        </p:sp>
      </p:grpSp>
      <p:sp>
        <p:nvSpPr>
          <p:cNvPr name="AutoShape 46" id="46"/>
          <p:cNvSpPr/>
          <p:nvPr/>
        </p:nvSpPr>
        <p:spPr>
          <a:xfrm rot="180780">
            <a:off x="9038873" y="4521518"/>
            <a:ext cx="507435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7" id="47"/>
          <p:cNvGrpSpPr/>
          <p:nvPr/>
        </p:nvGrpSpPr>
        <p:grpSpPr>
          <a:xfrm rot="0">
            <a:off x="9591675" y="4132707"/>
            <a:ext cx="814578" cy="814578"/>
            <a:chOff x="0" y="0"/>
            <a:chExt cx="1086104" cy="108610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86104" cy="1086104"/>
            </a:xfrm>
            <a:custGeom>
              <a:avLst/>
              <a:gdLst/>
              <a:ahLst/>
              <a:cxnLst/>
              <a:rect r="r" b="b" t="t" l="l"/>
              <a:pathLst>
                <a:path h="1086104" w="1086104">
                  <a:moveTo>
                    <a:pt x="0" y="543052"/>
                  </a:moveTo>
                  <a:cubicBezTo>
                    <a:pt x="0" y="243078"/>
                    <a:pt x="243078" y="0"/>
                    <a:pt x="543052" y="0"/>
                  </a:cubicBezTo>
                  <a:cubicBezTo>
                    <a:pt x="843026" y="0"/>
                    <a:pt x="1086104" y="243078"/>
                    <a:pt x="1086104" y="543052"/>
                  </a:cubicBezTo>
                  <a:cubicBezTo>
                    <a:pt x="1086104" y="843026"/>
                    <a:pt x="843026" y="1086104"/>
                    <a:pt x="543052" y="1086104"/>
                  </a:cubicBezTo>
                  <a:cubicBezTo>
                    <a:pt x="243078" y="1086104"/>
                    <a:pt x="0" y="843026"/>
                    <a:pt x="0" y="543052"/>
                  </a:cubicBez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9601200" y="4210812"/>
            <a:ext cx="795528" cy="603504"/>
            <a:chOff x="0" y="0"/>
            <a:chExt cx="1060704" cy="80467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060704" cy="804672"/>
            </a:xfrm>
            <a:custGeom>
              <a:avLst/>
              <a:gdLst/>
              <a:ahLst/>
              <a:cxnLst/>
              <a:rect r="r" b="b" t="t" l="l"/>
              <a:pathLst>
                <a:path h="804672" w="1060704">
                  <a:moveTo>
                    <a:pt x="0" y="0"/>
                  </a:moveTo>
                  <a:lnTo>
                    <a:pt x="1060704" y="0"/>
                  </a:lnTo>
                  <a:lnTo>
                    <a:pt x="106070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7333" t="0" r="-47333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1060704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3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629900" y="4142232"/>
            <a:ext cx="2400300" cy="384048"/>
            <a:chOff x="0" y="0"/>
            <a:chExt cx="3200400" cy="51206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200400" cy="512064"/>
            </a:xfrm>
            <a:custGeom>
              <a:avLst/>
              <a:gdLst/>
              <a:ahLst/>
              <a:cxnLst/>
              <a:rect r="r" b="b" t="t" l="l"/>
              <a:pathLst>
                <a:path h="512064" w="3200400">
                  <a:moveTo>
                    <a:pt x="0" y="0"/>
                  </a:moveTo>
                  <a:lnTo>
                    <a:pt x="3200400" y="0"/>
                  </a:lnTo>
                  <a:lnTo>
                    <a:pt x="320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320040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Reservar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0629900" y="4636008"/>
            <a:ext cx="2537460" cy="630936"/>
            <a:chOff x="0" y="0"/>
            <a:chExt cx="3383280" cy="841248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383280" cy="841248"/>
            </a:xfrm>
            <a:custGeom>
              <a:avLst/>
              <a:gdLst/>
              <a:ahLst/>
              <a:cxnLst/>
              <a:rect r="r" b="b" t="t" l="l"/>
              <a:pathLst>
                <a:path h="841248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63" r="0" b="-28363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9525"/>
              <a:ext cx="3383280" cy="8507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solicitud o clase</a:t>
              </a:r>
            </a:p>
          </p:txBody>
        </p:sp>
      </p:grpSp>
      <p:sp>
        <p:nvSpPr>
          <p:cNvPr name="AutoShape 58" id="58"/>
          <p:cNvSpPr/>
          <p:nvPr/>
        </p:nvSpPr>
        <p:spPr>
          <a:xfrm rot="180780">
            <a:off x="13222253" y="4521518"/>
            <a:ext cx="507435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59" id="59"/>
          <p:cNvGrpSpPr/>
          <p:nvPr/>
        </p:nvGrpSpPr>
        <p:grpSpPr>
          <a:xfrm rot="0">
            <a:off x="13775055" y="4132707"/>
            <a:ext cx="814578" cy="814578"/>
            <a:chOff x="0" y="0"/>
            <a:chExt cx="1086104" cy="1086104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86104" cy="1086104"/>
            </a:xfrm>
            <a:custGeom>
              <a:avLst/>
              <a:gdLst/>
              <a:ahLst/>
              <a:cxnLst/>
              <a:rect r="r" b="b" t="t" l="l"/>
              <a:pathLst>
                <a:path h="1086104" w="1086104">
                  <a:moveTo>
                    <a:pt x="0" y="543052"/>
                  </a:moveTo>
                  <a:cubicBezTo>
                    <a:pt x="0" y="243078"/>
                    <a:pt x="243078" y="0"/>
                    <a:pt x="543052" y="0"/>
                  </a:cubicBezTo>
                  <a:cubicBezTo>
                    <a:pt x="843026" y="0"/>
                    <a:pt x="1086104" y="243078"/>
                    <a:pt x="1086104" y="543052"/>
                  </a:cubicBezTo>
                  <a:cubicBezTo>
                    <a:pt x="1086104" y="843026"/>
                    <a:pt x="843026" y="1086104"/>
                    <a:pt x="543052" y="1086104"/>
                  </a:cubicBezTo>
                  <a:cubicBezTo>
                    <a:pt x="243078" y="1086104"/>
                    <a:pt x="0" y="843026"/>
                    <a:pt x="0" y="543052"/>
                  </a:cubicBezTo>
                  <a:close/>
                </a:path>
              </a:pathLst>
            </a:custGeom>
            <a:solidFill>
              <a:srgbClr val="79D957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3784580" y="4210812"/>
            <a:ext cx="795528" cy="603504"/>
            <a:chOff x="0" y="0"/>
            <a:chExt cx="1060704" cy="80467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060704" cy="804672"/>
            </a:xfrm>
            <a:custGeom>
              <a:avLst/>
              <a:gdLst/>
              <a:ahLst/>
              <a:cxnLst/>
              <a:rect r="r" b="b" t="t" l="l"/>
              <a:pathLst>
                <a:path h="804672" w="1060704">
                  <a:moveTo>
                    <a:pt x="0" y="0"/>
                  </a:moveTo>
                  <a:lnTo>
                    <a:pt x="1060704" y="0"/>
                  </a:lnTo>
                  <a:lnTo>
                    <a:pt x="106070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7333" t="0" r="-47333" b="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1060704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4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4813280" y="4142232"/>
            <a:ext cx="2400300" cy="384048"/>
            <a:chOff x="0" y="0"/>
            <a:chExt cx="3200400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200400" cy="512064"/>
            </a:xfrm>
            <a:custGeom>
              <a:avLst/>
              <a:gdLst/>
              <a:ahLst/>
              <a:cxnLst/>
              <a:rect r="r" b="b" t="t" l="l"/>
              <a:pathLst>
                <a:path h="512064" w="3200400">
                  <a:moveTo>
                    <a:pt x="0" y="0"/>
                  </a:moveTo>
                  <a:lnTo>
                    <a:pt x="3200400" y="0"/>
                  </a:lnTo>
                  <a:lnTo>
                    <a:pt x="320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0"/>
              <a:ext cx="320040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Evaluar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4813280" y="4636008"/>
            <a:ext cx="2537460" cy="630936"/>
            <a:chOff x="0" y="0"/>
            <a:chExt cx="3383280" cy="84124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383280" cy="841248"/>
            </a:xfrm>
            <a:custGeom>
              <a:avLst/>
              <a:gdLst/>
              <a:ahLst/>
              <a:cxnLst/>
              <a:rect r="r" b="b" t="t" l="l"/>
              <a:pathLst>
                <a:path h="841248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63" r="0" b="-28363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9525"/>
              <a:ext cx="3383280" cy="8507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reseñas y calificaciones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508760" y="6926580"/>
            <a:ext cx="3017520" cy="370332"/>
            <a:chOff x="0" y="0"/>
            <a:chExt cx="4023360" cy="493776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4023360" cy="493776"/>
            </a:xfrm>
            <a:custGeom>
              <a:avLst/>
              <a:gdLst/>
              <a:ahLst/>
              <a:cxnLst/>
              <a:rect r="r" b="b" t="t" l="l"/>
              <a:pathLst>
                <a:path h="493776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8766" r="0" b="-108766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0"/>
              <a:ext cx="4023360" cy="4937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0E5AA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Resultado buscado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8760" y="7502652"/>
            <a:ext cx="14950440" cy="850392"/>
            <a:chOff x="0" y="0"/>
            <a:chExt cx="19933920" cy="113385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19933920" cy="1133856"/>
            </a:xfrm>
            <a:custGeom>
              <a:avLst/>
              <a:gdLst/>
              <a:ahLst/>
              <a:cxnLst/>
              <a:rect r="r" b="b" t="t" l="l"/>
              <a:pathLst>
                <a:path h="1133856" w="19933920">
                  <a:moveTo>
                    <a:pt x="0" y="0"/>
                  </a:moveTo>
                  <a:lnTo>
                    <a:pt x="19933920" y="0"/>
                  </a:lnTo>
                  <a:lnTo>
                    <a:pt x="19933920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19933920" cy="11338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Centralizar búsqueda, contacto y gestión de tutorías en una sola solución tecnológica funcional y accesible.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Usuarios y valor del proyecto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Aporte educativo, tecnológico y laboral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4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1080" y="2118360"/>
            <a:ext cx="5158740" cy="3005328"/>
            <a:chOff x="0" y="0"/>
            <a:chExt cx="6878320" cy="400710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78320" cy="4007104"/>
            </a:xfrm>
            <a:custGeom>
              <a:avLst/>
              <a:gdLst/>
              <a:ahLst/>
              <a:cxnLst/>
              <a:rect r="r" b="b" t="t" l="l"/>
              <a:pathLst>
                <a:path h="4007104" w="6878320">
                  <a:moveTo>
                    <a:pt x="0" y="147066"/>
                  </a:moveTo>
                  <a:cubicBezTo>
                    <a:pt x="0" y="65786"/>
                    <a:pt x="65786" y="0"/>
                    <a:pt x="147066" y="0"/>
                  </a:cubicBezTo>
                  <a:lnTo>
                    <a:pt x="6731254" y="0"/>
                  </a:lnTo>
                  <a:cubicBezTo>
                    <a:pt x="6812535" y="0"/>
                    <a:pt x="6878320" y="65786"/>
                    <a:pt x="6878320" y="147066"/>
                  </a:cubicBezTo>
                  <a:lnTo>
                    <a:pt x="6878320" y="3860038"/>
                  </a:lnTo>
                  <a:cubicBezTo>
                    <a:pt x="6878320" y="3941318"/>
                    <a:pt x="6812535" y="4007104"/>
                    <a:pt x="6731254" y="4007104"/>
                  </a:cubicBezTo>
                  <a:lnTo>
                    <a:pt x="147066" y="4007104"/>
                  </a:lnTo>
                  <a:cubicBezTo>
                    <a:pt x="65786" y="4007104"/>
                    <a:pt x="0" y="3941318"/>
                    <a:pt x="0" y="3860038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019175" y="2116455"/>
            <a:ext cx="128778" cy="3009138"/>
            <a:chOff x="0" y="0"/>
            <a:chExt cx="171704" cy="401218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71704" cy="4012184"/>
            </a:xfrm>
            <a:custGeom>
              <a:avLst/>
              <a:gdLst/>
              <a:ahLst/>
              <a:cxnLst/>
              <a:rect r="r" b="b" t="t" l="l"/>
              <a:pathLst>
                <a:path h="4012184" w="171704">
                  <a:moveTo>
                    <a:pt x="0" y="0"/>
                  </a:moveTo>
                  <a:lnTo>
                    <a:pt x="171704" y="0"/>
                  </a:lnTo>
                  <a:lnTo>
                    <a:pt x="171704" y="4012184"/>
                  </a:lnTo>
                  <a:lnTo>
                    <a:pt x="0" y="4012184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330452" y="2372868"/>
            <a:ext cx="4526280" cy="384048"/>
            <a:chOff x="0" y="0"/>
            <a:chExt cx="6035040" cy="51206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035040" cy="512064"/>
            </a:xfrm>
            <a:custGeom>
              <a:avLst/>
              <a:gdLst/>
              <a:ahLst/>
              <a:cxnLst/>
              <a:rect r="r" b="b" t="t" l="l"/>
              <a:pathLst>
                <a:path h="51206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645" r="0" b="-17964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603504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Estudiantes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330452" y="2976372"/>
            <a:ext cx="4526280" cy="1920240"/>
            <a:chOff x="0" y="0"/>
            <a:chExt cx="6035040" cy="25603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035040" cy="2560320"/>
            </a:xfrm>
            <a:custGeom>
              <a:avLst/>
              <a:gdLst/>
              <a:ahLst/>
              <a:cxnLst/>
              <a:rect r="r" b="b" t="t" l="l"/>
              <a:pathLst>
                <a:path h="25603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31" t="0" r="-4431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6035040" cy="2560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Acceso a alternativas de apoyo académico con información clara para decidir.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6576060" y="2118360"/>
            <a:ext cx="5158740" cy="3005328"/>
            <a:chOff x="0" y="0"/>
            <a:chExt cx="6878320" cy="400710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878320" cy="4007104"/>
            </a:xfrm>
            <a:custGeom>
              <a:avLst/>
              <a:gdLst/>
              <a:ahLst/>
              <a:cxnLst/>
              <a:rect r="r" b="b" t="t" l="l"/>
              <a:pathLst>
                <a:path h="4007104" w="6878320">
                  <a:moveTo>
                    <a:pt x="0" y="147066"/>
                  </a:moveTo>
                  <a:cubicBezTo>
                    <a:pt x="0" y="65786"/>
                    <a:pt x="65786" y="0"/>
                    <a:pt x="147066" y="0"/>
                  </a:cubicBezTo>
                  <a:lnTo>
                    <a:pt x="6731254" y="0"/>
                  </a:lnTo>
                  <a:cubicBezTo>
                    <a:pt x="6812535" y="0"/>
                    <a:pt x="6878320" y="65786"/>
                    <a:pt x="6878320" y="147066"/>
                  </a:cubicBezTo>
                  <a:lnTo>
                    <a:pt x="6878320" y="3860038"/>
                  </a:lnTo>
                  <a:cubicBezTo>
                    <a:pt x="6878320" y="3941318"/>
                    <a:pt x="6812535" y="4007104"/>
                    <a:pt x="6731254" y="4007104"/>
                  </a:cubicBezTo>
                  <a:lnTo>
                    <a:pt x="147066" y="4007104"/>
                  </a:lnTo>
                  <a:cubicBezTo>
                    <a:pt x="65786" y="4007104"/>
                    <a:pt x="0" y="3941318"/>
                    <a:pt x="0" y="3860038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6574155" y="2116455"/>
            <a:ext cx="128778" cy="3009138"/>
            <a:chOff x="0" y="0"/>
            <a:chExt cx="171704" cy="401218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71704" cy="4012184"/>
            </a:xfrm>
            <a:custGeom>
              <a:avLst/>
              <a:gdLst/>
              <a:ahLst/>
              <a:cxnLst/>
              <a:rect r="r" b="b" t="t" l="l"/>
              <a:pathLst>
                <a:path h="4012184" w="171704">
                  <a:moveTo>
                    <a:pt x="0" y="0"/>
                  </a:moveTo>
                  <a:lnTo>
                    <a:pt x="171704" y="0"/>
                  </a:lnTo>
                  <a:lnTo>
                    <a:pt x="171704" y="4012184"/>
                  </a:lnTo>
                  <a:lnTo>
                    <a:pt x="0" y="4012184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6885432" y="2372868"/>
            <a:ext cx="4526280" cy="384048"/>
            <a:chOff x="0" y="0"/>
            <a:chExt cx="6035040" cy="51206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035040" cy="512064"/>
            </a:xfrm>
            <a:custGeom>
              <a:avLst/>
              <a:gdLst/>
              <a:ahLst/>
              <a:cxnLst/>
              <a:rect r="r" b="b" t="t" l="l"/>
              <a:pathLst>
                <a:path h="51206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645" r="0" b="-179645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603504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Profesores e ingenieros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6885432" y="2976372"/>
            <a:ext cx="4526280" cy="1920240"/>
            <a:chOff x="0" y="0"/>
            <a:chExt cx="6035040" cy="25603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035040" cy="2560320"/>
            </a:xfrm>
            <a:custGeom>
              <a:avLst/>
              <a:gdLst/>
              <a:ahLst/>
              <a:cxnLst/>
              <a:rect r="r" b="b" t="t" l="l"/>
              <a:pathLst>
                <a:path h="25603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31" t="0" r="-4431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6035040" cy="2560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Espacio digital para ofrecer conocimientos, gestionar servicios y generar ingresos adicionales.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2131040" y="2118360"/>
            <a:ext cx="5158740" cy="3005328"/>
            <a:chOff x="0" y="0"/>
            <a:chExt cx="6878320" cy="400710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878320" cy="4007104"/>
            </a:xfrm>
            <a:custGeom>
              <a:avLst/>
              <a:gdLst/>
              <a:ahLst/>
              <a:cxnLst/>
              <a:rect r="r" b="b" t="t" l="l"/>
              <a:pathLst>
                <a:path h="4007104" w="6878320">
                  <a:moveTo>
                    <a:pt x="0" y="147066"/>
                  </a:moveTo>
                  <a:cubicBezTo>
                    <a:pt x="0" y="65786"/>
                    <a:pt x="65786" y="0"/>
                    <a:pt x="147066" y="0"/>
                  </a:cubicBezTo>
                  <a:lnTo>
                    <a:pt x="6731254" y="0"/>
                  </a:lnTo>
                  <a:cubicBezTo>
                    <a:pt x="6812535" y="0"/>
                    <a:pt x="6878320" y="65786"/>
                    <a:pt x="6878320" y="147066"/>
                  </a:cubicBezTo>
                  <a:lnTo>
                    <a:pt x="6878320" y="3860038"/>
                  </a:lnTo>
                  <a:cubicBezTo>
                    <a:pt x="6878320" y="3941318"/>
                    <a:pt x="6812535" y="4007104"/>
                    <a:pt x="6731254" y="4007104"/>
                  </a:cubicBezTo>
                  <a:lnTo>
                    <a:pt x="147066" y="4007104"/>
                  </a:lnTo>
                  <a:cubicBezTo>
                    <a:pt x="65786" y="4007104"/>
                    <a:pt x="0" y="3941318"/>
                    <a:pt x="0" y="3860038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2129135" y="2116455"/>
            <a:ext cx="128778" cy="3009138"/>
            <a:chOff x="0" y="0"/>
            <a:chExt cx="171704" cy="401218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71704" cy="4012184"/>
            </a:xfrm>
            <a:custGeom>
              <a:avLst/>
              <a:gdLst/>
              <a:ahLst/>
              <a:cxnLst/>
              <a:rect r="r" b="b" t="t" l="l"/>
              <a:pathLst>
                <a:path h="4012184" w="171704">
                  <a:moveTo>
                    <a:pt x="0" y="0"/>
                  </a:moveTo>
                  <a:lnTo>
                    <a:pt x="171704" y="0"/>
                  </a:lnTo>
                  <a:lnTo>
                    <a:pt x="171704" y="4012184"/>
                  </a:lnTo>
                  <a:lnTo>
                    <a:pt x="0" y="4012184"/>
                  </a:lnTo>
                  <a:close/>
                </a:path>
              </a:pathLst>
            </a:custGeom>
            <a:solidFill>
              <a:srgbClr val="79D957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2440412" y="2372868"/>
            <a:ext cx="4526280" cy="384048"/>
            <a:chOff x="0" y="0"/>
            <a:chExt cx="6035040" cy="51206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12064"/>
            </a:xfrm>
            <a:custGeom>
              <a:avLst/>
              <a:gdLst/>
              <a:ahLst/>
              <a:cxnLst/>
              <a:rect r="r" b="b" t="t" l="l"/>
              <a:pathLst>
                <a:path h="51206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645" r="0" b="-17964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603504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Campo informático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440412" y="2976372"/>
            <a:ext cx="4526280" cy="1920240"/>
            <a:chOff x="0" y="0"/>
            <a:chExt cx="6035040" cy="25603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035040" cy="2560320"/>
            </a:xfrm>
            <a:custGeom>
              <a:avLst/>
              <a:gdLst/>
              <a:ahLst/>
              <a:cxnLst/>
              <a:rect r="r" b="b" t="t" l="l"/>
              <a:pathLst>
                <a:path h="25603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31" t="0" r="-4431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6035040" cy="2560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Diseño y desarrollo de una solución tecnológica con datos, pruebas e integración de componentes.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124712" y="6515100"/>
            <a:ext cx="2880360" cy="342900"/>
            <a:chOff x="0" y="0"/>
            <a:chExt cx="3840480" cy="4572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840480" cy="457200"/>
            </a:xfrm>
            <a:custGeom>
              <a:avLst/>
              <a:gdLst/>
              <a:ahLst/>
              <a:cxnLst/>
              <a:rect r="r" b="b" t="t" l="l"/>
              <a:pathLst>
                <a:path h="457200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674" r="0" b="-113674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0"/>
              <a:ext cx="384048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0E5AA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Valor central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124712" y="7104888"/>
            <a:ext cx="15910560" cy="1097280"/>
            <a:chOff x="0" y="0"/>
            <a:chExt cx="21214080" cy="146304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12140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7213A"/>
            </a:solidFill>
          </p:spPr>
        </p:sp>
        <p:sp>
          <p:nvSpPr>
            <p:cNvPr name="TextBox 55" id="55"/>
            <p:cNvSpPr txBox="true"/>
            <p:nvPr/>
          </p:nvSpPr>
          <p:spPr>
            <a:xfrm>
              <a:off x="0" y="9525"/>
              <a:ext cx="21214080" cy="14535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69"/>
                </a:lnSpc>
              </a:pPr>
              <a:r>
                <a:rPr lang="en-US" sz="3225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LBWUS crea una conexión organizada entre quienes necesitan aprender y quienes pueden enseñar.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Solución propuesta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Funcionalidades principales y servicios tecnológicos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5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34796" y="2118360"/>
            <a:ext cx="3512820" cy="1331976"/>
            <a:chOff x="0" y="0"/>
            <a:chExt cx="4683760" cy="177596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683760" cy="1775968"/>
            </a:xfrm>
            <a:custGeom>
              <a:avLst/>
              <a:gdLst/>
              <a:ahLst/>
              <a:cxnLst/>
              <a:rect r="r" b="b" t="t" l="l"/>
              <a:pathLst>
                <a:path h="1775968" w="4683760">
                  <a:moveTo>
                    <a:pt x="0" y="147955"/>
                  </a:moveTo>
                  <a:cubicBezTo>
                    <a:pt x="0" y="66294"/>
                    <a:pt x="66294" y="0"/>
                    <a:pt x="147955" y="0"/>
                  </a:cubicBezTo>
                  <a:lnTo>
                    <a:pt x="4535805" y="0"/>
                  </a:lnTo>
                  <a:cubicBezTo>
                    <a:pt x="4617593" y="0"/>
                    <a:pt x="4683760" y="66294"/>
                    <a:pt x="4683760" y="147955"/>
                  </a:cubicBezTo>
                  <a:lnTo>
                    <a:pt x="4683760" y="1628013"/>
                  </a:lnTo>
                  <a:cubicBezTo>
                    <a:pt x="4683760" y="1709801"/>
                    <a:pt x="4617466" y="1775968"/>
                    <a:pt x="4535805" y="1775968"/>
                  </a:cubicBezTo>
                  <a:lnTo>
                    <a:pt x="147955" y="1775968"/>
                  </a:lnTo>
                  <a:cubicBezTo>
                    <a:pt x="66294" y="1775968"/>
                    <a:pt x="0" y="1709674"/>
                    <a:pt x="0" y="162801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248156" y="2331720"/>
            <a:ext cx="3086100" cy="356616"/>
            <a:chOff x="0" y="0"/>
            <a:chExt cx="4114800" cy="47548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114800" cy="475488"/>
            </a:xfrm>
            <a:custGeom>
              <a:avLst/>
              <a:gdLst/>
              <a:ahLst/>
              <a:cxnLst/>
              <a:rect r="r" b="b" t="t" l="l"/>
              <a:pathLst>
                <a:path h="475488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620" r="0" b="-11862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411480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Registro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38631" y="2802255"/>
            <a:ext cx="595122" cy="128778"/>
            <a:chOff x="0" y="0"/>
            <a:chExt cx="793496" cy="17170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93496" cy="171704"/>
            </a:xfrm>
            <a:custGeom>
              <a:avLst/>
              <a:gdLst/>
              <a:ahLst/>
              <a:cxnLst/>
              <a:rect r="r" b="b" t="t" l="l"/>
              <a:pathLst>
                <a:path h="171704" w="793496">
                  <a:moveTo>
                    <a:pt x="0" y="0"/>
                  </a:moveTo>
                  <a:lnTo>
                    <a:pt x="793496" y="0"/>
                  </a:lnTo>
                  <a:lnTo>
                    <a:pt x="793496" y="171704"/>
                  </a:lnTo>
                  <a:lnTo>
                    <a:pt x="0" y="171704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248156" y="2990088"/>
            <a:ext cx="3086100" cy="301752"/>
            <a:chOff x="0" y="0"/>
            <a:chExt cx="4114800" cy="40233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114800" cy="402336"/>
            </a:xfrm>
            <a:custGeom>
              <a:avLst/>
              <a:gdLst/>
              <a:ahLst/>
              <a:cxnLst/>
              <a:rect r="r" b="b" t="t" l="l"/>
              <a:pathLst>
                <a:path h="40233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9278" r="0" b="-149278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4114800" cy="402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usuarios y autenticación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5300472" y="2118360"/>
            <a:ext cx="3512820" cy="1331976"/>
            <a:chOff x="0" y="0"/>
            <a:chExt cx="4683760" cy="177596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683760" cy="1775968"/>
            </a:xfrm>
            <a:custGeom>
              <a:avLst/>
              <a:gdLst/>
              <a:ahLst/>
              <a:cxnLst/>
              <a:rect r="r" b="b" t="t" l="l"/>
              <a:pathLst>
                <a:path h="1775968" w="4683760">
                  <a:moveTo>
                    <a:pt x="0" y="147955"/>
                  </a:moveTo>
                  <a:cubicBezTo>
                    <a:pt x="0" y="66294"/>
                    <a:pt x="66294" y="0"/>
                    <a:pt x="147955" y="0"/>
                  </a:cubicBezTo>
                  <a:lnTo>
                    <a:pt x="4535805" y="0"/>
                  </a:lnTo>
                  <a:cubicBezTo>
                    <a:pt x="4617593" y="0"/>
                    <a:pt x="4683760" y="66294"/>
                    <a:pt x="4683760" y="147955"/>
                  </a:cubicBezTo>
                  <a:lnTo>
                    <a:pt x="4683760" y="1628013"/>
                  </a:lnTo>
                  <a:cubicBezTo>
                    <a:pt x="4683760" y="1709801"/>
                    <a:pt x="4617466" y="1775968"/>
                    <a:pt x="4535805" y="1775968"/>
                  </a:cubicBezTo>
                  <a:lnTo>
                    <a:pt x="147955" y="1775968"/>
                  </a:lnTo>
                  <a:cubicBezTo>
                    <a:pt x="66294" y="1775968"/>
                    <a:pt x="0" y="1709674"/>
                    <a:pt x="0" y="162801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513832" y="2331720"/>
            <a:ext cx="3086100" cy="356616"/>
            <a:chOff x="0" y="0"/>
            <a:chExt cx="4114800" cy="47548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114800" cy="475488"/>
            </a:xfrm>
            <a:custGeom>
              <a:avLst/>
              <a:gdLst/>
              <a:ahLst/>
              <a:cxnLst/>
              <a:rect r="r" b="b" t="t" l="l"/>
              <a:pathLst>
                <a:path h="475488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620" r="0" b="-11862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411480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Perfiles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504307" y="2802255"/>
            <a:ext cx="595122" cy="128778"/>
            <a:chOff x="0" y="0"/>
            <a:chExt cx="793496" cy="17170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93496" cy="171704"/>
            </a:xfrm>
            <a:custGeom>
              <a:avLst/>
              <a:gdLst/>
              <a:ahLst/>
              <a:cxnLst/>
              <a:rect r="r" b="b" t="t" l="l"/>
              <a:pathLst>
                <a:path h="171704" w="793496">
                  <a:moveTo>
                    <a:pt x="0" y="0"/>
                  </a:moveTo>
                  <a:lnTo>
                    <a:pt x="793496" y="0"/>
                  </a:lnTo>
                  <a:lnTo>
                    <a:pt x="793496" y="171704"/>
                  </a:lnTo>
                  <a:lnTo>
                    <a:pt x="0" y="171704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5513832" y="2990088"/>
            <a:ext cx="3086100" cy="301752"/>
            <a:chOff x="0" y="0"/>
            <a:chExt cx="4114800" cy="4023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114800" cy="402336"/>
            </a:xfrm>
            <a:custGeom>
              <a:avLst/>
              <a:gdLst/>
              <a:ahLst/>
              <a:cxnLst/>
              <a:rect r="r" b="b" t="t" l="l"/>
              <a:pathLst>
                <a:path h="40233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9278" r="0" b="-149278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4114800" cy="402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estudiantes y profesionales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566148" y="2118360"/>
            <a:ext cx="3512820" cy="1331976"/>
            <a:chOff x="0" y="0"/>
            <a:chExt cx="4683760" cy="177596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683760" cy="1775968"/>
            </a:xfrm>
            <a:custGeom>
              <a:avLst/>
              <a:gdLst/>
              <a:ahLst/>
              <a:cxnLst/>
              <a:rect r="r" b="b" t="t" l="l"/>
              <a:pathLst>
                <a:path h="1775968" w="4683760">
                  <a:moveTo>
                    <a:pt x="0" y="147955"/>
                  </a:moveTo>
                  <a:cubicBezTo>
                    <a:pt x="0" y="66294"/>
                    <a:pt x="66294" y="0"/>
                    <a:pt x="147955" y="0"/>
                  </a:cubicBezTo>
                  <a:lnTo>
                    <a:pt x="4535805" y="0"/>
                  </a:lnTo>
                  <a:cubicBezTo>
                    <a:pt x="4617593" y="0"/>
                    <a:pt x="4683760" y="66294"/>
                    <a:pt x="4683760" y="147955"/>
                  </a:cubicBezTo>
                  <a:lnTo>
                    <a:pt x="4683760" y="1628013"/>
                  </a:lnTo>
                  <a:cubicBezTo>
                    <a:pt x="4683760" y="1709801"/>
                    <a:pt x="4617466" y="1775968"/>
                    <a:pt x="4535805" y="1775968"/>
                  </a:cubicBezTo>
                  <a:lnTo>
                    <a:pt x="147955" y="1775968"/>
                  </a:lnTo>
                  <a:cubicBezTo>
                    <a:pt x="66294" y="1775968"/>
                    <a:pt x="0" y="1709674"/>
                    <a:pt x="0" y="162801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779508" y="2331720"/>
            <a:ext cx="3086100" cy="356616"/>
            <a:chOff x="0" y="0"/>
            <a:chExt cx="4114800" cy="47548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114800" cy="475488"/>
            </a:xfrm>
            <a:custGeom>
              <a:avLst/>
              <a:gdLst/>
              <a:ahLst/>
              <a:cxnLst/>
              <a:rect r="r" b="b" t="t" l="l"/>
              <a:pathLst>
                <a:path h="475488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620" r="0" b="-11862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411480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Búsqueda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769983" y="2802255"/>
            <a:ext cx="595122" cy="128778"/>
            <a:chOff x="0" y="0"/>
            <a:chExt cx="793496" cy="17170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93496" cy="171704"/>
            </a:xfrm>
            <a:custGeom>
              <a:avLst/>
              <a:gdLst/>
              <a:ahLst/>
              <a:cxnLst/>
              <a:rect r="r" b="b" t="t" l="l"/>
              <a:pathLst>
                <a:path h="171704" w="793496">
                  <a:moveTo>
                    <a:pt x="0" y="0"/>
                  </a:moveTo>
                  <a:lnTo>
                    <a:pt x="793496" y="0"/>
                  </a:lnTo>
                  <a:lnTo>
                    <a:pt x="793496" y="171704"/>
                  </a:lnTo>
                  <a:lnTo>
                    <a:pt x="0" y="171704"/>
                  </a:lnTo>
                  <a:close/>
                </a:path>
              </a:pathLst>
            </a:custGeom>
            <a:solidFill>
              <a:srgbClr val="79D957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9779508" y="2990088"/>
            <a:ext cx="3086100" cy="301752"/>
            <a:chOff x="0" y="0"/>
            <a:chExt cx="4114800" cy="40233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114800" cy="402336"/>
            </a:xfrm>
            <a:custGeom>
              <a:avLst/>
              <a:gdLst/>
              <a:ahLst/>
              <a:cxnLst/>
              <a:rect r="r" b="b" t="t" l="l"/>
              <a:pathLst>
                <a:path h="40233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9278" r="0" b="-149278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4114800" cy="402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filtros por necesidad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3831824" y="2118360"/>
            <a:ext cx="3512820" cy="1331976"/>
            <a:chOff x="0" y="0"/>
            <a:chExt cx="4683760" cy="177596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683760" cy="1775968"/>
            </a:xfrm>
            <a:custGeom>
              <a:avLst/>
              <a:gdLst/>
              <a:ahLst/>
              <a:cxnLst/>
              <a:rect r="r" b="b" t="t" l="l"/>
              <a:pathLst>
                <a:path h="1775968" w="4683760">
                  <a:moveTo>
                    <a:pt x="0" y="147955"/>
                  </a:moveTo>
                  <a:cubicBezTo>
                    <a:pt x="0" y="66294"/>
                    <a:pt x="66294" y="0"/>
                    <a:pt x="147955" y="0"/>
                  </a:cubicBezTo>
                  <a:lnTo>
                    <a:pt x="4535805" y="0"/>
                  </a:lnTo>
                  <a:cubicBezTo>
                    <a:pt x="4617593" y="0"/>
                    <a:pt x="4683760" y="66294"/>
                    <a:pt x="4683760" y="147955"/>
                  </a:cubicBezTo>
                  <a:lnTo>
                    <a:pt x="4683760" y="1628013"/>
                  </a:lnTo>
                  <a:cubicBezTo>
                    <a:pt x="4683760" y="1709801"/>
                    <a:pt x="4617466" y="1775968"/>
                    <a:pt x="4535805" y="1775968"/>
                  </a:cubicBezTo>
                  <a:lnTo>
                    <a:pt x="147955" y="1775968"/>
                  </a:lnTo>
                  <a:cubicBezTo>
                    <a:pt x="66294" y="1775968"/>
                    <a:pt x="0" y="1709674"/>
                    <a:pt x="0" y="162801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4045184" y="2331720"/>
            <a:ext cx="3086100" cy="356616"/>
            <a:chOff x="0" y="0"/>
            <a:chExt cx="4114800" cy="47548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114800" cy="475488"/>
            </a:xfrm>
            <a:custGeom>
              <a:avLst/>
              <a:gdLst/>
              <a:ahLst/>
              <a:cxnLst/>
              <a:rect r="r" b="b" t="t" l="l"/>
              <a:pathLst>
                <a:path h="475488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620" r="0" b="-11862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411480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Reservas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4035659" y="2802255"/>
            <a:ext cx="595122" cy="128778"/>
            <a:chOff x="0" y="0"/>
            <a:chExt cx="793496" cy="17170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793496" cy="171704"/>
            </a:xfrm>
            <a:custGeom>
              <a:avLst/>
              <a:gdLst/>
              <a:ahLst/>
              <a:cxnLst/>
              <a:rect r="r" b="b" t="t" l="l"/>
              <a:pathLst>
                <a:path h="171704" w="793496">
                  <a:moveTo>
                    <a:pt x="0" y="0"/>
                  </a:moveTo>
                  <a:lnTo>
                    <a:pt x="793496" y="0"/>
                  </a:lnTo>
                  <a:lnTo>
                    <a:pt x="793496" y="171704"/>
                  </a:lnTo>
                  <a:lnTo>
                    <a:pt x="0" y="171704"/>
                  </a:lnTo>
                  <a:close/>
                </a:path>
              </a:pathLst>
            </a:custGeom>
            <a:solidFill>
              <a:srgbClr val="FDBA4B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4045184" y="2990088"/>
            <a:ext cx="3086100" cy="301752"/>
            <a:chOff x="0" y="0"/>
            <a:chExt cx="4114800" cy="40233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114800" cy="402336"/>
            </a:xfrm>
            <a:custGeom>
              <a:avLst/>
              <a:gdLst/>
              <a:ahLst/>
              <a:cxnLst/>
              <a:rect r="r" b="b" t="t" l="l"/>
              <a:pathLst>
                <a:path h="40233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9278" r="0" b="-149278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4114800" cy="402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horarios y precios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34796" y="4011168"/>
            <a:ext cx="3512820" cy="1331976"/>
            <a:chOff x="0" y="0"/>
            <a:chExt cx="4683760" cy="177596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683760" cy="1775968"/>
            </a:xfrm>
            <a:custGeom>
              <a:avLst/>
              <a:gdLst/>
              <a:ahLst/>
              <a:cxnLst/>
              <a:rect r="r" b="b" t="t" l="l"/>
              <a:pathLst>
                <a:path h="1775968" w="4683760">
                  <a:moveTo>
                    <a:pt x="0" y="147955"/>
                  </a:moveTo>
                  <a:cubicBezTo>
                    <a:pt x="0" y="66294"/>
                    <a:pt x="66294" y="0"/>
                    <a:pt x="147955" y="0"/>
                  </a:cubicBezTo>
                  <a:lnTo>
                    <a:pt x="4535805" y="0"/>
                  </a:lnTo>
                  <a:cubicBezTo>
                    <a:pt x="4617593" y="0"/>
                    <a:pt x="4683760" y="66294"/>
                    <a:pt x="4683760" y="147955"/>
                  </a:cubicBezTo>
                  <a:lnTo>
                    <a:pt x="4683760" y="1628013"/>
                  </a:lnTo>
                  <a:cubicBezTo>
                    <a:pt x="4683760" y="1709801"/>
                    <a:pt x="4617466" y="1775968"/>
                    <a:pt x="4535805" y="1775968"/>
                  </a:cubicBezTo>
                  <a:lnTo>
                    <a:pt x="147955" y="1775968"/>
                  </a:lnTo>
                  <a:cubicBezTo>
                    <a:pt x="66294" y="1775968"/>
                    <a:pt x="0" y="1709674"/>
                    <a:pt x="0" y="162801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48156" y="4224528"/>
            <a:ext cx="3086100" cy="356616"/>
            <a:chOff x="0" y="0"/>
            <a:chExt cx="4114800" cy="475488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4114800" cy="475488"/>
            </a:xfrm>
            <a:custGeom>
              <a:avLst/>
              <a:gdLst/>
              <a:ahLst/>
              <a:cxnLst/>
              <a:rect r="r" b="b" t="t" l="l"/>
              <a:pathLst>
                <a:path h="475488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620" r="0" b="-11862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411480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Mensajería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238631" y="4695063"/>
            <a:ext cx="595122" cy="128778"/>
            <a:chOff x="0" y="0"/>
            <a:chExt cx="793496" cy="171704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793496" cy="171704"/>
            </a:xfrm>
            <a:custGeom>
              <a:avLst/>
              <a:gdLst/>
              <a:ahLst/>
              <a:cxnLst/>
              <a:rect r="r" b="b" t="t" l="l"/>
              <a:pathLst>
                <a:path h="171704" w="793496">
                  <a:moveTo>
                    <a:pt x="0" y="0"/>
                  </a:moveTo>
                  <a:lnTo>
                    <a:pt x="793496" y="0"/>
                  </a:lnTo>
                  <a:lnTo>
                    <a:pt x="793496" y="171704"/>
                  </a:lnTo>
                  <a:lnTo>
                    <a:pt x="0" y="171704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1248156" y="4882896"/>
            <a:ext cx="3086100" cy="301752"/>
            <a:chOff x="0" y="0"/>
            <a:chExt cx="4114800" cy="40233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114800" cy="402336"/>
            </a:xfrm>
            <a:custGeom>
              <a:avLst/>
              <a:gdLst/>
              <a:ahLst/>
              <a:cxnLst/>
              <a:rect r="r" b="b" t="t" l="l"/>
              <a:pathLst>
                <a:path h="40233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9278" r="0" b="-149278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0"/>
              <a:ext cx="4114800" cy="402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comunicación directa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5300472" y="4011168"/>
            <a:ext cx="3512820" cy="1331976"/>
            <a:chOff x="0" y="0"/>
            <a:chExt cx="4683760" cy="1775968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4683760" cy="1775968"/>
            </a:xfrm>
            <a:custGeom>
              <a:avLst/>
              <a:gdLst/>
              <a:ahLst/>
              <a:cxnLst/>
              <a:rect r="r" b="b" t="t" l="l"/>
              <a:pathLst>
                <a:path h="1775968" w="4683760">
                  <a:moveTo>
                    <a:pt x="0" y="147955"/>
                  </a:moveTo>
                  <a:cubicBezTo>
                    <a:pt x="0" y="66294"/>
                    <a:pt x="66294" y="0"/>
                    <a:pt x="147955" y="0"/>
                  </a:cubicBezTo>
                  <a:lnTo>
                    <a:pt x="4535805" y="0"/>
                  </a:lnTo>
                  <a:cubicBezTo>
                    <a:pt x="4617593" y="0"/>
                    <a:pt x="4683760" y="66294"/>
                    <a:pt x="4683760" y="147955"/>
                  </a:cubicBezTo>
                  <a:lnTo>
                    <a:pt x="4683760" y="1628013"/>
                  </a:lnTo>
                  <a:cubicBezTo>
                    <a:pt x="4683760" y="1709801"/>
                    <a:pt x="4617466" y="1775968"/>
                    <a:pt x="4535805" y="1775968"/>
                  </a:cubicBezTo>
                  <a:lnTo>
                    <a:pt x="147955" y="1775968"/>
                  </a:lnTo>
                  <a:cubicBezTo>
                    <a:pt x="66294" y="1775968"/>
                    <a:pt x="0" y="1709674"/>
                    <a:pt x="0" y="162801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5513832" y="4224528"/>
            <a:ext cx="3086100" cy="356616"/>
            <a:chOff x="0" y="0"/>
            <a:chExt cx="4114800" cy="475488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4114800" cy="475488"/>
            </a:xfrm>
            <a:custGeom>
              <a:avLst/>
              <a:gdLst/>
              <a:ahLst/>
              <a:cxnLst/>
              <a:rect r="r" b="b" t="t" l="l"/>
              <a:pathLst>
                <a:path h="475488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620" r="0" b="-118620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0"/>
              <a:ext cx="411480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Reseñas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5504307" y="4695063"/>
            <a:ext cx="595122" cy="128778"/>
            <a:chOff x="0" y="0"/>
            <a:chExt cx="793496" cy="17170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793496" cy="171704"/>
            </a:xfrm>
            <a:custGeom>
              <a:avLst/>
              <a:gdLst/>
              <a:ahLst/>
              <a:cxnLst/>
              <a:rect r="r" b="b" t="t" l="l"/>
              <a:pathLst>
                <a:path h="171704" w="793496">
                  <a:moveTo>
                    <a:pt x="0" y="0"/>
                  </a:moveTo>
                  <a:lnTo>
                    <a:pt x="793496" y="0"/>
                  </a:lnTo>
                  <a:lnTo>
                    <a:pt x="793496" y="171704"/>
                  </a:lnTo>
                  <a:lnTo>
                    <a:pt x="0" y="171704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5513832" y="4882896"/>
            <a:ext cx="3086100" cy="301752"/>
            <a:chOff x="0" y="0"/>
            <a:chExt cx="4114800" cy="40233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4114800" cy="402336"/>
            </a:xfrm>
            <a:custGeom>
              <a:avLst/>
              <a:gdLst/>
              <a:ahLst/>
              <a:cxnLst/>
              <a:rect r="r" b="b" t="t" l="l"/>
              <a:pathLst>
                <a:path h="40233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9278" r="0" b="-149278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0"/>
              <a:ext cx="4114800" cy="402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evaluaciones y confianza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9566148" y="4011168"/>
            <a:ext cx="3512820" cy="1331976"/>
            <a:chOff x="0" y="0"/>
            <a:chExt cx="4683760" cy="1775968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683760" cy="1775968"/>
            </a:xfrm>
            <a:custGeom>
              <a:avLst/>
              <a:gdLst/>
              <a:ahLst/>
              <a:cxnLst/>
              <a:rect r="r" b="b" t="t" l="l"/>
              <a:pathLst>
                <a:path h="1775968" w="4683760">
                  <a:moveTo>
                    <a:pt x="0" y="147955"/>
                  </a:moveTo>
                  <a:cubicBezTo>
                    <a:pt x="0" y="66294"/>
                    <a:pt x="66294" y="0"/>
                    <a:pt x="147955" y="0"/>
                  </a:cubicBezTo>
                  <a:lnTo>
                    <a:pt x="4535805" y="0"/>
                  </a:lnTo>
                  <a:cubicBezTo>
                    <a:pt x="4617593" y="0"/>
                    <a:pt x="4683760" y="66294"/>
                    <a:pt x="4683760" y="147955"/>
                  </a:cubicBezTo>
                  <a:lnTo>
                    <a:pt x="4683760" y="1628013"/>
                  </a:lnTo>
                  <a:cubicBezTo>
                    <a:pt x="4683760" y="1709801"/>
                    <a:pt x="4617466" y="1775968"/>
                    <a:pt x="4535805" y="1775968"/>
                  </a:cubicBezTo>
                  <a:lnTo>
                    <a:pt x="147955" y="1775968"/>
                  </a:lnTo>
                  <a:cubicBezTo>
                    <a:pt x="66294" y="1775968"/>
                    <a:pt x="0" y="1709674"/>
                    <a:pt x="0" y="162801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9779508" y="4224528"/>
            <a:ext cx="3086100" cy="356616"/>
            <a:chOff x="0" y="0"/>
            <a:chExt cx="4114800" cy="475488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4114800" cy="475488"/>
            </a:xfrm>
            <a:custGeom>
              <a:avLst/>
              <a:gdLst/>
              <a:ahLst/>
              <a:cxnLst/>
              <a:rect r="r" b="b" t="t" l="l"/>
              <a:pathLst>
                <a:path h="475488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620" r="0" b="-118620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411480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Pagos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9769983" y="4695063"/>
            <a:ext cx="595122" cy="128778"/>
            <a:chOff x="0" y="0"/>
            <a:chExt cx="793496" cy="17170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793496" cy="171704"/>
            </a:xfrm>
            <a:custGeom>
              <a:avLst/>
              <a:gdLst/>
              <a:ahLst/>
              <a:cxnLst/>
              <a:rect r="r" b="b" t="t" l="l"/>
              <a:pathLst>
                <a:path h="171704" w="793496">
                  <a:moveTo>
                    <a:pt x="0" y="0"/>
                  </a:moveTo>
                  <a:lnTo>
                    <a:pt x="793496" y="0"/>
                  </a:lnTo>
                  <a:lnTo>
                    <a:pt x="793496" y="171704"/>
                  </a:lnTo>
                  <a:lnTo>
                    <a:pt x="0" y="171704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87" id="87"/>
          <p:cNvGrpSpPr/>
          <p:nvPr/>
        </p:nvGrpSpPr>
        <p:grpSpPr>
          <a:xfrm rot="0">
            <a:off x="9779508" y="4882896"/>
            <a:ext cx="3086100" cy="301752"/>
            <a:chOff x="0" y="0"/>
            <a:chExt cx="4114800" cy="402336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4114800" cy="402336"/>
            </a:xfrm>
            <a:custGeom>
              <a:avLst/>
              <a:gdLst/>
              <a:ahLst/>
              <a:cxnLst/>
              <a:rect r="r" b="b" t="t" l="l"/>
              <a:pathLst>
                <a:path h="40233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9278" r="0" b="-149278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0"/>
              <a:ext cx="4114800" cy="402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Transbank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3831824" y="4011168"/>
            <a:ext cx="3512820" cy="1331976"/>
            <a:chOff x="0" y="0"/>
            <a:chExt cx="4683760" cy="1775968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683760" cy="1775968"/>
            </a:xfrm>
            <a:custGeom>
              <a:avLst/>
              <a:gdLst/>
              <a:ahLst/>
              <a:cxnLst/>
              <a:rect r="r" b="b" t="t" l="l"/>
              <a:pathLst>
                <a:path h="1775968" w="4683760">
                  <a:moveTo>
                    <a:pt x="0" y="147955"/>
                  </a:moveTo>
                  <a:cubicBezTo>
                    <a:pt x="0" y="66294"/>
                    <a:pt x="66294" y="0"/>
                    <a:pt x="147955" y="0"/>
                  </a:cubicBezTo>
                  <a:lnTo>
                    <a:pt x="4535805" y="0"/>
                  </a:lnTo>
                  <a:cubicBezTo>
                    <a:pt x="4617593" y="0"/>
                    <a:pt x="4683760" y="66294"/>
                    <a:pt x="4683760" y="147955"/>
                  </a:cubicBezTo>
                  <a:lnTo>
                    <a:pt x="4683760" y="1628013"/>
                  </a:lnTo>
                  <a:cubicBezTo>
                    <a:pt x="4683760" y="1709801"/>
                    <a:pt x="4617466" y="1775968"/>
                    <a:pt x="4535805" y="1775968"/>
                  </a:cubicBezTo>
                  <a:lnTo>
                    <a:pt x="147955" y="1775968"/>
                  </a:lnTo>
                  <a:cubicBezTo>
                    <a:pt x="66294" y="1775968"/>
                    <a:pt x="0" y="1709674"/>
                    <a:pt x="0" y="162801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92" id="92"/>
          <p:cNvGrpSpPr/>
          <p:nvPr/>
        </p:nvGrpSpPr>
        <p:grpSpPr>
          <a:xfrm rot="0">
            <a:off x="14045184" y="4224528"/>
            <a:ext cx="3086100" cy="356616"/>
            <a:chOff x="0" y="0"/>
            <a:chExt cx="4114800" cy="475488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4114800" cy="475488"/>
            </a:xfrm>
            <a:custGeom>
              <a:avLst/>
              <a:gdLst/>
              <a:ahLst/>
              <a:cxnLst/>
              <a:rect r="r" b="b" t="t" l="l"/>
              <a:pathLst>
                <a:path h="475488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620" r="0" b="-1186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0"/>
              <a:ext cx="411480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Despliegue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4035659" y="4695063"/>
            <a:ext cx="595122" cy="128778"/>
            <a:chOff x="0" y="0"/>
            <a:chExt cx="793496" cy="17170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793496" cy="171704"/>
            </a:xfrm>
            <a:custGeom>
              <a:avLst/>
              <a:gdLst/>
              <a:ahLst/>
              <a:cxnLst/>
              <a:rect r="r" b="b" t="t" l="l"/>
              <a:pathLst>
                <a:path h="171704" w="793496">
                  <a:moveTo>
                    <a:pt x="0" y="0"/>
                  </a:moveTo>
                  <a:lnTo>
                    <a:pt x="793496" y="0"/>
                  </a:lnTo>
                  <a:lnTo>
                    <a:pt x="793496" y="171704"/>
                  </a:lnTo>
                  <a:lnTo>
                    <a:pt x="0" y="171704"/>
                  </a:lnTo>
                  <a:close/>
                </a:path>
              </a:pathLst>
            </a:custGeom>
            <a:solidFill>
              <a:srgbClr val="79D957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4045184" y="4882896"/>
            <a:ext cx="3086100" cy="301752"/>
            <a:chOff x="0" y="0"/>
            <a:chExt cx="4114800" cy="402336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4114800" cy="402336"/>
            </a:xfrm>
            <a:custGeom>
              <a:avLst/>
              <a:gdLst/>
              <a:ahLst/>
              <a:cxnLst/>
              <a:rect r="r" b="b" t="t" l="l"/>
              <a:pathLst>
                <a:path h="40233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9278" r="0" b="-149278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0"/>
              <a:ext cx="4114800" cy="402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Railway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1371600" y="6858000"/>
            <a:ext cx="3017520" cy="411480"/>
            <a:chOff x="0" y="0"/>
            <a:chExt cx="4023360" cy="54864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0"/>
              <a:ext cx="4023360" cy="548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0E5AA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Tecnología base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1371600" y="7434072"/>
            <a:ext cx="15087600" cy="768096"/>
            <a:chOff x="0" y="0"/>
            <a:chExt cx="20116800" cy="1024128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20116800" cy="1024128"/>
            </a:xfrm>
            <a:custGeom>
              <a:avLst/>
              <a:gdLst/>
              <a:ahLst/>
              <a:cxnLst/>
              <a:rect r="r" b="b" t="t" l="l"/>
              <a:pathLst>
                <a:path h="1024128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024128"/>
                  </a:lnTo>
                  <a:lnTo>
                    <a:pt x="0" y="1024128"/>
                  </a:lnTo>
                  <a:close/>
                </a:path>
              </a:pathLst>
            </a:custGeom>
            <a:solidFill>
              <a:srgbClr val="EAF7FF"/>
            </a:solid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9525"/>
              <a:ext cx="20116800" cy="1033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34"/>
                </a:lnSpc>
              </a:pPr>
              <a:r>
                <a:rPr lang="en-US" sz="244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Python · Django · HTML · CSS · JavaScript · MongoDB · GitHub · Figma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Competencias del perfil de egreso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Competencias seleccionadas para el diseño del Proyecto APT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6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56335" y="2116455"/>
            <a:ext cx="814578" cy="814578"/>
            <a:chOff x="0" y="0"/>
            <a:chExt cx="1086104" cy="108610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86104" cy="1086104"/>
            </a:xfrm>
            <a:custGeom>
              <a:avLst/>
              <a:gdLst/>
              <a:ahLst/>
              <a:cxnLst/>
              <a:rect r="r" b="b" t="t" l="l"/>
              <a:pathLst>
                <a:path h="1086104" w="1086104">
                  <a:moveTo>
                    <a:pt x="0" y="543052"/>
                  </a:moveTo>
                  <a:cubicBezTo>
                    <a:pt x="0" y="243078"/>
                    <a:pt x="243078" y="0"/>
                    <a:pt x="543052" y="0"/>
                  </a:cubicBezTo>
                  <a:cubicBezTo>
                    <a:pt x="843026" y="0"/>
                    <a:pt x="1086104" y="243078"/>
                    <a:pt x="1086104" y="543052"/>
                  </a:cubicBezTo>
                  <a:cubicBezTo>
                    <a:pt x="1086104" y="843026"/>
                    <a:pt x="843026" y="1086104"/>
                    <a:pt x="543052" y="1086104"/>
                  </a:cubicBezTo>
                  <a:cubicBezTo>
                    <a:pt x="243078" y="1086104"/>
                    <a:pt x="0" y="843026"/>
                    <a:pt x="0" y="543052"/>
                  </a:cubicBez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165860" y="2194560"/>
            <a:ext cx="795528" cy="603504"/>
            <a:chOff x="0" y="0"/>
            <a:chExt cx="1060704" cy="80467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60704" cy="804672"/>
            </a:xfrm>
            <a:custGeom>
              <a:avLst/>
              <a:gdLst/>
              <a:ahLst/>
              <a:cxnLst/>
              <a:rect r="r" b="b" t="t" l="l"/>
              <a:pathLst>
                <a:path h="804672" w="1060704">
                  <a:moveTo>
                    <a:pt x="0" y="0"/>
                  </a:moveTo>
                  <a:lnTo>
                    <a:pt x="1060704" y="0"/>
                  </a:lnTo>
                  <a:lnTo>
                    <a:pt x="106070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7333" t="0" r="-47333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1060704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2290572" y="2153412"/>
            <a:ext cx="6515100" cy="384048"/>
            <a:chOff x="0" y="0"/>
            <a:chExt cx="8686800" cy="51206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686800" cy="512064"/>
            </a:xfrm>
            <a:custGeom>
              <a:avLst/>
              <a:gdLst/>
              <a:ahLst/>
              <a:cxnLst/>
              <a:rect r="r" b="b" t="t" l="l"/>
              <a:pathLst>
                <a:path h="51206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0549" r="0" b="-280549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868680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Pruebas de certificación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2290572" y="2715768"/>
            <a:ext cx="6446520" cy="576072"/>
            <a:chOff x="0" y="0"/>
            <a:chExt cx="8595360" cy="7680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595360" cy="768096"/>
            </a:xfrm>
            <a:custGeom>
              <a:avLst/>
              <a:gdLst/>
              <a:ahLst/>
              <a:cxnLst/>
              <a:rect r="r" b="b" t="t" l="l"/>
              <a:pathLst>
                <a:path h="768096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46" r="0" b="-16804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859536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05"/>
                </a:lnSpc>
              </a:pPr>
              <a:r>
                <a:rPr lang="en-US" sz="1754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Diseñar, aplicar pruebas y generar mejoras.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 rot="9000">
            <a:off x="1156325" y="3629978"/>
            <a:ext cx="7288559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2" id="32"/>
          <p:cNvGrpSpPr/>
          <p:nvPr/>
        </p:nvGrpSpPr>
        <p:grpSpPr>
          <a:xfrm rot="0">
            <a:off x="9317355" y="2116455"/>
            <a:ext cx="814578" cy="814578"/>
            <a:chOff x="0" y="0"/>
            <a:chExt cx="1086104" cy="108610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86104" cy="1086104"/>
            </a:xfrm>
            <a:custGeom>
              <a:avLst/>
              <a:gdLst/>
              <a:ahLst/>
              <a:cxnLst/>
              <a:rect r="r" b="b" t="t" l="l"/>
              <a:pathLst>
                <a:path h="1086104" w="1086104">
                  <a:moveTo>
                    <a:pt x="0" y="543052"/>
                  </a:moveTo>
                  <a:cubicBezTo>
                    <a:pt x="0" y="243078"/>
                    <a:pt x="243078" y="0"/>
                    <a:pt x="543052" y="0"/>
                  </a:cubicBezTo>
                  <a:cubicBezTo>
                    <a:pt x="843026" y="0"/>
                    <a:pt x="1086104" y="243078"/>
                    <a:pt x="1086104" y="543052"/>
                  </a:cubicBezTo>
                  <a:cubicBezTo>
                    <a:pt x="1086104" y="843026"/>
                    <a:pt x="843026" y="1086104"/>
                    <a:pt x="543052" y="1086104"/>
                  </a:cubicBezTo>
                  <a:cubicBezTo>
                    <a:pt x="243078" y="1086104"/>
                    <a:pt x="0" y="843026"/>
                    <a:pt x="0" y="543052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9326880" y="2194560"/>
            <a:ext cx="795528" cy="603504"/>
            <a:chOff x="0" y="0"/>
            <a:chExt cx="1060704" cy="80467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60704" cy="804672"/>
            </a:xfrm>
            <a:custGeom>
              <a:avLst/>
              <a:gdLst/>
              <a:ahLst/>
              <a:cxnLst/>
              <a:rect r="r" b="b" t="t" l="l"/>
              <a:pathLst>
                <a:path h="804672" w="1060704">
                  <a:moveTo>
                    <a:pt x="0" y="0"/>
                  </a:moveTo>
                  <a:lnTo>
                    <a:pt x="1060704" y="0"/>
                  </a:lnTo>
                  <a:lnTo>
                    <a:pt x="106070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7333" t="0" r="-47333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1060704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2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0451592" y="2153412"/>
            <a:ext cx="6515100" cy="384048"/>
            <a:chOff x="0" y="0"/>
            <a:chExt cx="8686800" cy="51206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686800" cy="512064"/>
            </a:xfrm>
            <a:custGeom>
              <a:avLst/>
              <a:gdLst/>
              <a:ahLst/>
              <a:cxnLst/>
              <a:rect r="r" b="b" t="t" l="l"/>
              <a:pathLst>
                <a:path h="51206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0549" r="0" b="-280549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868680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Gestión de proyectos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451592" y="2715768"/>
            <a:ext cx="6446520" cy="576072"/>
            <a:chOff x="0" y="0"/>
            <a:chExt cx="8595360" cy="76809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595360" cy="768096"/>
            </a:xfrm>
            <a:custGeom>
              <a:avLst/>
              <a:gdLst/>
              <a:ahLst/>
              <a:cxnLst/>
              <a:rect r="r" b="b" t="t" l="l"/>
              <a:pathLst>
                <a:path h="768096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46" r="0" b="-168046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859536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05"/>
                </a:lnSpc>
              </a:pPr>
              <a:r>
                <a:rPr lang="en-US" sz="1754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Planificar, controlar avances y tomar decisiones.</a:t>
              </a:r>
            </a:p>
          </p:txBody>
        </p:sp>
      </p:grpSp>
      <p:sp>
        <p:nvSpPr>
          <p:cNvPr name="AutoShape 43" id="43"/>
          <p:cNvSpPr/>
          <p:nvPr/>
        </p:nvSpPr>
        <p:spPr>
          <a:xfrm rot="9000">
            <a:off x="9317345" y="3629978"/>
            <a:ext cx="7288559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4" id="44"/>
          <p:cNvGrpSpPr/>
          <p:nvPr/>
        </p:nvGrpSpPr>
        <p:grpSpPr>
          <a:xfrm rot="0">
            <a:off x="1156335" y="4516755"/>
            <a:ext cx="814578" cy="814578"/>
            <a:chOff x="0" y="0"/>
            <a:chExt cx="1086104" cy="108610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86104" cy="1086104"/>
            </a:xfrm>
            <a:custGeom>
              <a:avLst/>
              <a:gdLst/>
              <a:ahLst/>
              <a:cxnLst/>
              <a:rect r="r" b="b" t="t" l="l"/>
              <a:pathLst>
                <a:path h="1086104" w="1086104">
                  <a:moveTo>
                    <a:pt x="0" y="543052"/>
                  </a:moveTo>
                  <a:cubicBezTo>
                    <a:pt x="0" y="243078"/>
                    <a:pt x="243078" y="0"/>
                    <a:pt x="543052" y="0"/>
                  </a:cubicBezTo>
                  <a:cubicBezTo>
                    <a:pt x="843026" y="0"/>
                    <a:pt x="1086104" y="243078"/>
                    <a:pt x="1086104" y="543052"/>
                  </a:cubicBezTo>
                  <a:cubicBezTo>
                    <a:pt x="1086104" y="843026"/>
                    <a:pt x="843026" y="1086104"/>
                    <a:pt x="543052" y="1086104"/>
                  </a:cubicBezTo>
                  <a:cubicBezTo>
                    <a:pt x="243078" y="1086104"/>
                    <a:pt x="0" y="843026"/>
                    <a:pt x="0" y="543052"/>
                  </a:cubicBez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165860" y="4594860"/>
            <a:ext cx="795528" cy="603504"/>
            <a:chOff x="0" y="0"/>
            <a:chExt cx="1060704" cy="80467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60704" cy="804672"/>
            </a:xfrm>
            <a:custGeom>
              <a:avLst/>
              <a:gdLst/>
              <a:ahLst/>
              <a:cxnLst/>
              <a:rect r="r" b="b" t="t" l="l"/>
              <a:pathLst>
                <a:path h="804672" w="1060704">
                  <a:moveTo>
                    <a:pt x="0" y="0"/>
                  </a:moveTo>
                  <a:lnTo>
                    <a:pt x="1060704" y="0"/>
                  </a:lnTo>
                  <a:lnTo>
                    <a:pt x="106070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7333" t="0" r="-47333" b="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0"/>
              <a:ext cx="1060704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3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290572" y="4553712"/>
            <a:ext cx="6515100" cy="384048"/>
            <a:chOff x="0" y="0"/>
            <a:chExt cx="8686800" cy="512064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686800" cy="512064"/>
            </a:xfrm>
            <a:custGeom>
              <a:avLst/>
              <a:gdLst/>
              <a:ahLst/>
              <a:cxnLst/>
              <a:rect r="r" b="b" t="t" l="l"/>
              <a:pathLst>
                <a:path h="51206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0549" r="0" b="-280549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868680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Modelos de datos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2290572" y="5116068"/>
            <a:ext cx="6446520" cy="576072"/>
            <a:chOff x="0" y="0"/>
            <a:chExt cx="8595360" cy="76809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595360" cy="768096"/>
            </a:xfrm>
            <a:custGeom>
              <a:avLst/>
              <a:gdLst/>
              <a:ahLst/>
              <a:cxnLst/>
              <a:rect r="r" b="b" t="t" l="l"/>
              <a:pathLst>
                <a:path h="768096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46" r="0" b="-168046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859536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05"/>
                </a:lnSpc>
              </a:pPr>
              <a:r>
                <a:rPr lang="en-US" sz="1754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Diseñar e implementar MongoDB de forma escalable.</a:t>
              </a:r>
            </a:p>
          </p:txBody>
        </p:sp>
      </p:grpSp>
      <p:sp>
        <p:nvSpPr>
          <p:cNvPr name="AutoShape 55" id="55"/>
          <p:cNvSpPr/>
          <p:nvPr/>
        </p:nvSpPr>
        <p:spPr>
          <a:xfrm rot="9000">
            <a:off x="1156325" y="6030278"/>
            <a:ext cx="7288559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6" id="56"/>
          <p:cNvGrpSpPr/>
          <p:nvPr/>
        </p:nvGrpSpPr>
        <p:grpSpPr>
          <a:xfrm rot="0">
            <a:off x="9317355" y="4516755"/>
            <a:ext cx="814578" cy="814578"/>
            <a:chOff x="0" y="0"/>
            <a:chExt cx="1086104" cy="1086104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86104" cy="1086104"/>
            </a:xfrm>
            <a:custGeom>
              <a:avLst/>
              <a:gdLst/>
              <a:ahLst/>
              <a:cxnLst/>
              <a:rect r="r" b="b" t="t" l="l"/>
              <a:pathLst>
                <a:path h="1086104" w="1086104">
                  <a:moveTo>
                    <a:pt x="0" y="543052"/>
                  </a:moveTo>
                  <a:cubicBezTo>
                    <a:pt x="0" y="243078"/>
                    <a:pt x="243078" y="0"/>
                    <a:pt x="543052" y="0"/>
                  </a:cubicBezTo>
                  <a:cubicBezTo>
                    <a:pt x="843026" y="0"/>
                    <a:pt x="1086104" y="243078"/>
                    <a:pt x="1086104" y="543052"/>
                  </a:cubicBezTo>
                  <a:cubicBezTo>
                    <a:pt x="1086104" y="843026"/>
                    <a:pt x="843026" y="1086104"/>
                    <a:pt x="543052" y="1086104"/>
                  </a:cubicBezTo>
                  <a:cubicBezTo>
                    <a:pt x="243078" y="1086104"/>
                    <a:pt x="0" y="843026"/>
                    <a:pt x="0" y="543052"/>
                  </a:cubicBezTo>
                  <a:close/>
                </a:path>
              </a:pathLst>
            </a:custGeom>
            <a:solidFill>
              <a:srgbClr val="79D957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9326880" y="4594860"/>
            <a:ext cx="795528" cy="603504"/>
            <a:chOff x="0" y="0"/>
            <a:chExt cx="1060704" cy="804672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060704" cy="804672"/>
            </a:xfrm>
            <a:custGeom>
              <a:avLst/>
              <a:gdLst/>
              <a:ahLst/>
              <a:cxnLst/>
              <a:rect r="r" b="b" t="t" l="l"/>
              <a:pathLst>
                <a:path h="804672" w="1060704">
                  <a:moveTo>
                    <a:pt x="0" y="0"/>
                  </a:moveTo>
                  <a:lnTo>
                    <a:pt x="1060704" y="0"/>
                  </a:lnTo>
                  <a:lnTo>
                    <a:pt x="106070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7333" t="0" r="-47333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1060704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4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451592" y="4553712"/>
            <a:ext cx="6515100" cy="384048"/>
            <a:chOff x="0" y="0"/>
            <a:chExt cx="8686800" cy="51206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8686800" cy="512064"/>
            </a:xfrm>
            <a:custGeom>
              <a:avLst/>
              <a:gdLst/>
              <a:ahLst/>
              <a:cxnLst/>
              <a:rect r="r" b="b" t="t" l="l"/>
              <a:pathLst>
                <a:path h="51206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0549" r="0" b="-280549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868680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Desarrollo de software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0451592" y="5116068"/>
            <a:ext cx="6446520" cy="576072"/>
            <a:chOff x="0" y="0"/>
            <a:chExt cx="8595360" cy="76809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8595360" cy="768096"/>
            </a:xfrm>
            <a:custGeom>
              <a:avLst/>
              <a:gdLst/>
              <a:ahLst/>
              <a:cxnLst/>
              <a:rect r="r" b="b" t="t" l="l"/>
              <a:pathLst>
                <a:path h="768096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46" r="0" b="-168046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9525"/>
              <a:ext cx="859536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05"/>
                </a:lnSpc>
              </a:pPr>
              <a:r>
                <a:rPr lang="en-US" sz="1754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Construir, integrar e implantar la solución.</a:t>
              </a:r>
            </a:p>
          </p:txBody>
        </p:sp>
      </p:grpSp>
      <p:sp>
        <p:nvSpPr>
          <p:cNvPr name="AutoShape 67" id="67"/>
          <p:cNvSpPr/>
          <p:nvPr/>
        </p:nvSpPr>
        <p:spPr>
          <a:xfrm rot="9000">
            <a:off x="9317345" y="6030278"/>
            <a:ext cx="7288559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8" id="68"/>
          <p:cNvGrpSpPr/>
          <p:nvPr/>
        </p:nvGrpSpPr>
        <p:grpSpPr>
          <a:xfrm rot="0">
            <a:off x="1303020" y="8133588"/>
            <a:ext cx="15636240" cy="630936"/>
            <a:chOff x="0" y="0"/>
            <a:chExt cx="20848320" cy="841248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0848320" cy="841248"/>
            </a:xfrm>
            <a:custGeom>
              <a:avLst/>
              <a:gdLst/>
              <a:ahLst/>
              <a:cxnLst/>
              <a:rect r="r" b="b" t="t" l="l"/>
              <a:pathLst>
                <a:path h="841248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841248"/>
                  </a:lnTo>
                  <a:lnTo>
                    <a:pt x="0" y="841248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9525"/>
              <a:ext cx="20848320" cy="831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88"/>
                </a:lnSpc>
              </a:pPr>
              <a:r>
                <a:rPr lang="en-US" sz="249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Estas competencias cubren todo el ciclo: planificación → construcción → integración → pruebas → despliegue.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Equipo y responsabilidades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Roles definidos para organizar el desarrollo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7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58240" y="1981200"/>
            <a:ext cx="4884420" cy="3238500"/>
            <a:chOff x="0" y="0"/>
            <a:chExt cx="6512560" cy="4318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512560" cy="4318000"/>
            </a:xfrm>
            <a:custGeom>
              <a:avLst/>
              <a:gdLst/>
              <a:ahLst/>
              <a:cxnLst/>
              <a:rect r="r" b="b" t="t" l="l"/>
              <a:pathLst>
                <a:path h="4318000" w="6512560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6365621" y="0"/>
                  </a:lnTo>
                  <a:cubicBezTo>
                    <a:pt x="6446774" y="0"/>
                    <a:pt x="6512560" y="65786"/>
                    <a:pt x="6512560" y="146939"/>
                  </a:cubicBezTo>
                  <a:lnTo>
                    <a:pt x="6512560" y="4171061"/>
                  </a:lnTo>
                  <a:cubicBezTo>
                    <a:pt x="6512560" y="4252214"/>
                    <a:pt x="6446774" y="4318000"/>
                    <a:pt x="6365621" y="4318000"/>
                  </a:cubicBezTo>
                  <a:lnTo>
                    <a:pt x="146939" y="4318000"/>
                  </a:lnTo>
                  <a:cubicBezTo>
                    <a:pt x="65786" y="4318000"/>
                    <a:pt x="0" y="4252214"/>
                    <a:pt x="0" y="417106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508760" y="2359152"/>
            <a:ext cx="4183380" cy="576072"/>
            <a:chOff x="0" y="0"/>
            <a:chExt cx="5577840" cy="76809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577840" cy="768096"/>
            </a:xfrm>
            <a:custGeom>
              <a:avLst/>
              <a:gdLst/>
              <a:ahLst/>
              <a:cxnLst/>
              <a:rect r="r" b="b" t="t" l="l"/>
              <a:pathLst>
                <a:path h="768096" w="5577840">
                  <a:moveTo>
                    <a:pt x="0" y="0"/>
                  </a:moveTo>
                  <a:lnTo>
                    <a:pt x="5577840" y="0"/>
                  </a:lnTo>
                  <a:lnTo>
                    <a:pt x="5577840" y="768096"/>
                  </a:lnTo>
                  <a:lnTo>
                    <a:pt x="0" y="768096"/>
                  </a:lnTo>
                  <a:close/>
                </a:path>
              </a:pathLst>
            </a:custGeom>
            <a:solidFill>
              <a:srgbClr val="37CFE1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5577840" cy="7680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Jefa de Proyecto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8760" y="3236976"/>
            <a:ext cx="4183380" cy="384048"/>
            <a:chOff x="0" y="0"/>
            <a:chExt cx="5577840" cy="51206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577840" cy="512064"/>
            </a:xfrm>
            <a:custGeom>
              <a:avLst/>
              <a:gdLst/>
              <a:ahLst/>
              <a:cxnLst/>
              <a:rect r="r" b="b" t="t" l="l"/>
              <a:pathLst>
                <a:path h="512064" w="5577840">
                  <a:moveTo>
                    <a:pt x="0" y="0"/>
                  </a:moveTo>
                  <a:lnTo>
                    <a:pt x="5577840" y="0"/>
                  </a:lnTo>
                  <a:lnTo>
                    <a:pt x="557784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2247" r="0" b="-162247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557784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Francheska Cisterna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32204" y="3950208"/>
            <a:ext cx="3936492" cy="960120"/>
            <a:chOff x="0" y="0"/>
            <a:chExt cx="5248656" cy="12801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248656" cy="1280160"/>
            </a:xfrm>
            <a:custGeom>
              <a:avLst/>
              <a:gdLst/>
              <a:ahLst/>
              <a:cxnLst/>
              <a:rect r="r" b="b" t="t" l="l"/>
              <a:pathLst>
                <a:path h="1280160" w="5248656">
                  <a:moveTo>
                    <a:pt x="0" y="0"/>
                  </a:moveTo>
                  <a:lnTo>
                    <a:pt x="5248656" y="0"/>
                  </a:lnTo>
                  <a:lnTo>
                    <a:pt x="5248656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888" r="0" b="-29888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5248656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Planificación, coordinación, seguimiento, control de avances y toma de decisiones.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713220" y="1981200"/>
            <a:ext cx="4884420" cy="3238500"/>
            <a:chOff x="0" y="0"/>
            <a:chExt cx="6512560" cy="43180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512560" cy="4318000"/>
            </a:xfrm>
            <a:custGeom>
              <a:avLst/>
              <a:gdLst/>
              <a:ahLst/>
              <a:cxnLst/>
              <a:rect r="r" b="b" t="t" l="l"/>
              <a:pathLst>
                <a:path h="4318000" w="6512560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6365621" y="0"/>
                  </a:lnTo>
                  <a:cubicBezTo>
                    <a:pt x="6446774" y="0"/>
                    <a:pt x="6512560" y="65786"/>
                    <a:pt x="6512560" y="146939"/>
                  </a:cubicBezTo>
                  <a:lnTo>
                    <a:pt x="6512560" y="4171061"/>
                  </a:lnTo>
                  <a:cubicBezTo>
                    <a:pt x="6512560" y="4252214"/>
                    <a:pt x="6446774" y="4318000"/>
                    <a:pt x="6365621" y="4318000"/>
                  </a:cubicBezTo>
                  <a:lnTo>
                    <a:pt x="146939" y="4318000"/>
                  </a:lnTo>
                  <a:cubicBezTo>
                    <a:pt x="65786" y="4318000"/>
                    <a:pt x="0" y="4252214"/>
                    <a:pt x="0" y="417106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7063740" y="2359152"/>
            <a:ext cx="4183380" cy="576072"/>
            <a:chOff x="0" y="0"/>
            <a:chExt cx="5577840" cy="76809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577840" cy="768096"/>
            </a:xfrm>
            <a:custGeom>
              <a:avLst/>
              <a:gdLst/>
              <a:ahLst/>
              <a:cxnLst/>
              <a:rect r="r" b="b" t="t" l="l"/>
              <a:pathLst>
                <a:path h="768096" w="5577840">
                  <a:moveTo>
                    <a:pt x="0" y="0"/>
                  </a:moveTo>
                  <a:lnTo>
                    <a:pt x="5577840" y="0"/>
                  </a:lnTo>
                  <a:lnTo>
                    <a:pt x="5577840" y="768096"/>
                  </a:lnTo>
                  <a:lnTo>
                    <a:pt x="0" y="768096"/>
                  </a:lnTo>
                  <a:close/>
                </a:path>
              </a:pathLst>
            </a:custGeom>
            <a:solidFill>
              <a:srgbClr val="8B5CF6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5577840" cy="7680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Backend y Base de Datos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7063740" y="3236976"/>
            <a:ext cx="4183380" cy="384048"/>
            <a:chOff x="0" y="0"/>
            <a:chExt cx="5577840" cy="51206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577840" cy="512064"/>
            </a:xfrm>
            <a:custGeom>
              <a:avLst/>
              <a:gdLst/>
              <a:ahLst/>
              <a:cxnLst/>
              <a:rect r="r" b="b" t="t" l="l"/>
              <a:pathLst>
                <a:path h="512064" w="5577840">
                  <a:moveTo>
                    <a:pt x="0" y="0"/>
                  </a:moveTo>
                  <a:lnTo>
                    <a:pt x="5577840" y="0"/>
                  </a:lnTo>
                  <a:lnTo>
                    <a:pt x="557784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2247" r="0" b="-16224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557784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Franco Sáez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187184" y="3950208"/>
            <a:ext cx="3936492" cy="960120"/>
            <a:chOff x="0" y="0"/>
            <a:chExt cx="5248656" cy="128016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248656" cy="1280160"/>
            </a:xfrm>
            <a:custGeom>
              <a:avLst/>
              <a:gdLst/>
              <a:ahLst/>
              <a:cxnLst/>
              <a:rect r="r" b="b" t="t" l="l"/>
              <a:pathLst>
                <a:path h="1280160" w="5248656">
                  <a:moveTo>
                    <a:pt x="0" y="0"/>
                  </a:moveTo>
                  <a:lnTo>
                    <a:pt x="5248656" y="0"/>
                  </a:lnTo>
                  <a:lnTo>
                    <a:pt x="5248656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888" r="0" b="-29888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5248656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Lógica de negocio, servicios backend, modelo de datos MongoDB e integración.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2268200" y="1981200"/>
            <a:ext cx="4884420" cy="3238500"/>
            <a:chOff x="0" y="0"/>
            <a:chExt cx="6512560" cy="43180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6512560" cy="4318000"/>
            </a:xfrm>
            <a:custGeom>
              <a:avLst/>
              <a:gdLst/>
              <a:ahLst/>
              <a:cxnLst/>
              <a:rect r="r" b="b" t="t" l="l"/>
              <a:pathLst>
                <a:path h="4318000" w="6512560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6365621" y="0"/>
                  </a:lnTo>
                  <a:cubicBezTo>
                    <a:pt x="6446774" y="0"/>
                    <a:pt x="6512560" y="65786"/>
                    <a:pt x="6512560" y="146939"/>
                  </a:cubicBezTo>
                  <a:lnTo>
                    <a:pt x="6512560" y="4171061"/>
                  </a:lnTo>
                  <a:cubicBezTo>
                    <a:pt x="6512560" y="4252214"/>
                    <a:pt x="6446774" y="4318000"/>
                    <a:pt x="6365621" y="4318000"/>
                  </a:cubicBezTo>
                  <a:lnTo>
                    <a:pt x="146939" y="4318000"/>
                  </a:lnTo>
                  <a:cubicBezTo>
                    <a:pt x="65786" y="4318000"/>
                    <a:pt x="0" y="4252214"/>
                    <a:pt x="0" y="417106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2618720" y="2359152"/>
            <a:ext cx="4183380" cy="576072"/>
            <a:chOff x="0" y="0"/>
            <a:chExt cx="5577840" cy="76809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577840" cy="768096"/>
            </a:xfrm>
            <a:custGeom>
              <a:avLst/>
              <a:gdLst/>
              <a:ahLst/>
              <a:cxnLst/>
              <a:rect r="r" b="b" t="t" l="l"/>
              <a:pathLst>
                <a:path h="768096" w="5577840">
                  <a:moveTo>
                    <a:pt x="0" y="0"/>
                  </a:moveTo>
                  <a:lnTo>
                    <a:pt x="5577840" y="0"/>
                  </a:lnTo>
                  <a:lnTo>
                    <a:pt x="5577840" y="768096"/>
                  </a:lnTo>
                  <a:lnTo>
                    <a:pt x="0" y="768096"/>
                  </a:lnTo>
                  <a:close/>
                </a:path>
              </a:pathLst>
            </a:custGeom>
            <a:solidFill>
              <a:srgbClr val="FFD85A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5577840" cy="7680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Frontend y UX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618720" y="3236976"/>
            <a:ext cx="4183380" cy="384048"/>
            <a:chOff x="0" y="0"/>
            <a:chExt cx="5577840" cy="51206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577840" cy="512064"/>
            </a:xfrm>
            <a:custGeom>
              <a:avLst/>
              <a:gdLst/>
              <a:ahLst/>
              <a:cxnLst/>
              <a:rect r="r" b="b" t="t" l="l"/>
              <a:pathLst>
                <a:path h="512064" w="5577840">
                  <a:moveTo>
                    <a:pt x="0" y="0"/>
                  </a:moveTo>
                  <a:lnTo>
                    <a:pt x="5577840" y="0"/>
                  </a:lnTo>
                  <a:lnTo>
                    <a:pt x="557784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2247" r="0" b="-162247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557784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10"/>
                </a:lnSpc>
              </a:pPr>
              <a:r>
                <a:rPr lang="en-US" sz="21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Benjamín Nicovani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742164" y="3950208"/>
            <a:ext cx="3936492" cy="960120"/>
            <a:chOff x="0" y="0"/>
            <a:chExt cx="5248656" cy="12801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48656" cy="1280160"/>
            </a:xfrm>
            <a:custGeom>
              <a:avLst/>
              <a:gdLst/>
              <a:ahLst/>
              <a:cxnLst/>
              <a:rect r="r" b="b" t="t" l="l"/>
              <a:pathLst>
                <a:path h="1280160" w="5248656">
                  <a:moveTo>
                    <a:pt x="0" y="0"/>
                  </a:moveTo>
                  <a:lnTo>
                    <a:pt x="5248656" y="0"/>
                  </a:lnTo>
                  <a:lnTo>
                    <a:pt x="5248656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888" r="0" b="-29888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0"/>
              <a:ext cx="5248656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Interfaz, navegación, responsividad y experiencia de usuario.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468880" y="6926580"/>
            <a:ext cx="3291840" cy="342900"/>
            <a:chOff x="0" y="0"/>
            <a:chExt cx="4389120" cy="4572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389120" cy="457200"/>
            </a:xfrm>
            <a:custGeom>
              <a:avLst/>
              <a:gdLst/>
              <a:ahLst/>
              <a:cxnLst/>
              <a:rect r="r" b="b" t="t" l="l"/>
              <a:pathLst>
                <a:path h="45720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438912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75"/>
                </a:lnSpc>
              </a:pPr>
              <a:r>
                <a:rPr lang="en-US" sz="1979" b="true">
                  <a:solidFill>
                    <a:srgbClr val="0E5AA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Trabajo colaborativo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2468880" y="7475220"/>
            <a:ext cx="13235940" cy="795528"/>
            <a:chOff x="0" y="0"/>
            <a:chExt cx="17647920" cy="1060704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7647920" cy="1060704"/>
            </a:xfrm>
            <a:custGeom>
              <a:avLst/>
              <a:gdLst/>
              <a:ahLst/>
              <a:cxnLst/>
              <a:rect r="r" b="b" t="t" l="l"/>
              <a:pathLst>
                <a:path h="1060704" w="17647920">
                  <a:moveTo>
                    <a:pt x="0" y="0"/>
                  </a:moveTo>
                  <a:lnTo>
                    <a:pt x="17647920" y="0"/>
                  </a:lnTo>
                  <a:lnTo>
                    <a:pt x="17647920" y="1060704"/>
                  </a:lnTo>
                  <a:lnTo>
                    <a:pt x="0" y="1060704"/>
                  </a:lnTo>
                  <a:close/>
                </a:path>
              </a:pathLst>
            </a:custGeom>
            <a:solidFill>
              <a:srgbClr val="ECFBEF"/>
            </a:solid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17647920" cy="10607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5"/>
                </a:lnSpc>
              </a:pPr>
              <a:r>
                <a:rPr lang="en-US" sz="2279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El equipo colaborará en análisis, desarrollo, pruebas, documentación y revisión para asegurar coherencia entre todos los componentes.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Objetivos del proyecto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Del diseño a la implantación de la solución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8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1865376"/>
            <a:ext cx="3429000" cy="342900"/>
            <a:chOff x="0" y="0"/>
            <a:chExt cx="4572000" cy="457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72000" cy="457200"/>
            </a:xfrm>
            <a:custGeom>
              <a:avLst/>
              <a:gdLst/>
              <a:ahLst/>
              <a:cxnLst/>
              <a:rect r="r" b="b" t="t" l="l"/>
              <a:pathLst>
                <a:path h="4572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4572000" cy="4667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12"/>
                </a:lnSpc>
              </a:pPr>
              <a:r>
                <a:rPr lang="en-US" sz="2010" b="true">
                  <a:solidFill>
                    <a:srgbClr val="0E5AA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Objetivo general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28700" y="2414016"/>
            <a:ext cx="15841980" cy="905256"/>
            <a:chOff x="0" y="0"/>
            <a:chExt cx="21122640" cy="120700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22639" cy="1207008"/>
            </a:xfrm>
            <a:custGeom>
              <a:avLst/>
              <a:gdLst/>
              <a:ahLst/>
              <a:cxnLst/>
              <a:rect r="r" b="b" t="t" l="l"/>
              <a:pathLst>
                <a:path h="1207008" w="21122639">
                  <a:moveTo>
                    <a:pt x="0" y="0"/>
                  </a:moveTo>
                  <a:lnTo>
                    <a:pt x="21122639" y="0"/>
                  </a:lnTo>
                  <a:lnTo>
                    <a:pt x="21122639" y="1207008"/>
                  </a:lnTo>
                  <a:lnTo>
                    <a:pt x="0" y="1207008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21122640" cy="1207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50"/>
                </a:lnSpc>
              </a:pPr>
              <a:r>
                <a:rPr lang="en-US" sz="262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Diseñar y desarrollar una plataforma web que conecte estudiantes con profesores e ingenieros, centralizando la búsqueda, contacto y gestión de tutorías.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65860" y="4732020"/>
            <a:ext cx="3429000" cy="589788"/>
            <a:chOff x="0" y="0"/>
            <a:chExt cx="4572000" cy="78638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572000" cy="786384"/>
            </a:xfrm>
            <a:custGeom>
              <a:avLst/>
              <a:gdLst/>
              <a:ahLst/>
              <a:cxnLst/>
              <a:rect r="r" b="b" t="t" l="l"/>
              <a:pathLst>
                <a:path h="786384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786384"/>
                  </a:lnTo>
                  <a:lnTo>
                    <a:pt x="0" y="786384"/>
                  </a:lnTo>
                  <a:close/>
                </a:path>
              </a:pathLst>
            </a:custGeom>
            <a:solidFill>
              <a:srgbClr val="37CFE1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4572000" cy="7863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  <a:r>
                <a:rPr lang="en-US" sz="186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Definir y diseñar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65860" y="5692140"/>
            <a:ext cx="3429000" cy="1069848"/>
            <a:chOff x="0" y="0"/>
            <a:chExt cx="4572000" cy="142646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5720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426464"/>
                  </a:lnTo>
                  <a:lnTo>
                    <a:pt x="0" y="1426464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0"/>
              <a:ext cx="4572000" cy="14264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Requerimientos, arquitectura, UX y modelo de datos.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349240" y="4732020"/>
            <a:ext cx="3429000" cy="589788"/>
            <a:chOff x="0" y="0"/>
            <a:chExt cx="4572000" cy="78638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572000" cy="786384"/>
            </a:xfrm>
            <a:custGeom>
              <a:avLst/>
              <a:gdLst/>
              <a:ahLst/>
              <a:cxnLst/>
              <a:rect r="r" b="b" t="t" l="l"/>
              <a:pathLst>
                <a:path h="786384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786384"/>
                  </a:lnTo>
                  <a:lnTo>
                    <a:pt x="0" y="786384"/>
                  </a:lnTo>
                  <a:close/>
                </a:path>
              </a:pathLst>
            </a:custGeom>
            <a:solidFill>
              <a:srgbClr val="8B5CF6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4572000" cy="7863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  <a:r>
                <a:rPr lang="en-US" sz="186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Construir e integrar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349240" y="5692140"/>
            <a:ext cx="3429000" cy="1069848"/>
            <a:chOff x="0" y="0"/>
            <a:chExt cx="4572000" cy="142646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5720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426464"/>
                  </a:lnTo>
                  <a:lnTo>
                    <a:pt x="0" y="1426464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4572000" cy="14264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Módulos principales, funcionalidades y pagos Transbank.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532620" y="4732020"/>
            <a:ext cx="3429000" cy="589788"/>
            <a:chOff x="0" y="0"/>
            <a:chExt cx="4572000" cy="7863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572000" cy="786384"/>
            </a:xfrm>
            <a:custGeom>
              <a:avLst/>
              <a:gdLst/>
              <a:ahLst/>
              <a:cxnLst/>
              <a:rect r="r" b="b" t="t" l="l"/>
              <a:pathLst>
                <a:path h="786384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786384"/>
                  </a:lnTo>
                  <a:lnTo>
                    <a:pt x="0" y="786384"/>
                  </a:lnTo>
                  <a:close/>
                </a:path>
              </a:pathLst>
            </a:custGeom>
            <a:solidFill>
              <a:srgbClr val="FFD85A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4572000" cy="7863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  <a:r>
                <a:rPr lang="en-US" sz="186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Gestionar y validar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532620" y="5692140"/>
            <a:ext cx="3429000" cy="1069848"/>
            <a:chOff x="0" y="0"/>
            <a:chExt cx="4572000" cy="142646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5720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426464"/>
                  </a:lnTo>
                  <a:lnTo>
                    <a:pt x="0" y="1426464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4572000" cy="14264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Scrum, pruebas funcionales, usabilidad y mejoras.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3716000" y="4732020"/>
            <a:ext cx="3429000" cy="589788"/>
            <a:chOff x="0" y="0"/>
            <a:chExt cx="4572000" cy="78638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572000" cy="786384"/>
            </a:xfrm>
            <a:custGeom>
              <a:avLst/>
              <a:gdLst/>
              <a:ahLst/>
              <a:cxnLst/>
              <a:rect r="r" b="b" t="t" l="l"/>
              <a:pathLst>
                <a:path h="786384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786384"/>
                  </a:lnTo>
                  <a:lnTo>
                    <a:pt x="0" y="786384"/>
                  </a:lnTo>
                  <a:close/>
                </a:path>
              </a:pathLst>
            </a:custGeom>
            <a:solidFill>
              <a:srgbClr val="79D957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4572000" cy="7863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  <a:r>
                <a:rPr lang="en-US" sz="186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Desplegar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3716000" y="5692140"/>
            <a:ext cx="3429000" cy="1069848"/>
            <a:chOff x="0" y="0"/>
            <a:chExt cx="4572000" cy="142646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5720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426464"/>
                  </a:lnTo>
                  <a:lnTo>
                    <a:pt x="0" y="1426464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4572000" cy="14264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Implantación en Railway y verificación operativa.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Metodología de trabajo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Scrum, sprints y fases de la asignatura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9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65860" y="2029968"/>
            <a:ext cx="15841980" cy="795528"/>
            <a:chOff x="0" y="0"/>
            <a:chExt cx="21122640" cy="106070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122639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122639">
                  <a:moveTo>
                    <a:pt x="0" y="0"/>
                  </a:moveTo>
                  <a:lnTo>
                    <a:pt x="21122639" y="0"/>
                  </a:lnTo>
                  <a:lnTo>
                    <a:pt x="21122639" y="1060704"/>
                  </a:lnTo>
                  <a:lnTo>
                    <a:pt x="0" y="1060704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1122640" cy="10607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85"/>
                </a:lnSpc>
              </a:pPr>
              <a:r>
                <a:rPr lang="en-US" sz="2654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Scrum permitirá organizar el trabajo de forma iterativa, distribuir responsabilidades y revisar avances periódicamente.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226820" y="3764280"/>
            <a:ext cx="4610100" cy="2758440"/>
            <a:chOff x="0" y="0"/>
            <a:chExt cx="6146800" cy="36779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146800" cy="3677920"/>
            </a:xfrm>
            <a:custGeom>
              <a:avLst/>
              <a:gdLst/>
              <a:ahLst/>
              <a:cxnLst/>
              <a:rect r="r" b="b" t="t" l="l"/>
              <a:pathLst>
                <a:path h="3677920" w="6146800">
                  <a:moveTo>
                    <a:pt x="0" y="147066"/>
                  </a:moveTo>
                  <a:cubicBezTo>
                    <a:pt x="0" y="65913"/>
                    <a:pt x="65913" y="0"/>
                    <a:pt x="147066" y="0"/>
                  </a:cubicBezTo>
                  <a:lnTo>
                    <a:pt x="5999734" y="0"/>
                  </a:lnTo>
                  <a:cubicBezTo>
                    <a:pt x="6080887" y="0"/>
                    <a:pt x="6146800" y="65913"/>
                    <a:pt x="6146800" y="147066"/>
                  </a:cubicBezTo>
                  <a:lnTo>
                    <a:pt x="6146800" y="3530854"/>
                  </a:lnTo>
                  <a:cubicBezTo>
                    <a:pt x="6146800" y="3612134"/>
                    <a:pt x="6080887" y="3677920"/>
                    <a:pt x="5999734" y="3677920"/>
                  </a:cubicBezTo>
                  <a:lnTo>
                    <a:pt x="147066" y="3677920"/>
                  </a:lnTo>
                  <a:cubicBezTo>
                    <a:pt x="65913" y="3677920"/>
                    <a:pt x="0" y="3612007"/>
                    <a:pt x="0" y="3530854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673352" y="4114800"/>
            <a:ext cx="3703320" cy="576072"/>
            <a:chOff x="0" y="0"/>
            <a:chExt cx="4937760" cy="7680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937760" cy="768096"/>
            </a:xfrm>
            <a:custGeom>
              <a:avLst/>
              <a:gdLst/>
              <a:ahLst/>
              <a:cxnLst/>
              <a:rect r="r" b="b" t="t" l="l"/>
              <a:pathLst>
                <a:path h="768096" w="4937760">
                  <a:moveTo>
                    <a:pt x="0" y="0"/>
                  </a:moveTo>
                  <a:lnTo>
                    <a:pt x="4937760" y="0"/>
                  </a:lnTo>
                  <a:lnTo>
                    <a:pt x="4937760" y="768096"/>
                  </a:lnTo>
                  <a:lnTo>
                    <a:pt x="0" y="768096"/>
                  </a:lnTo>
                  <a:close/>
                </a:path>
              </a:pathLst>
            </a:custGeom>
            <a:solidFill>
              <a:srgbClr val="37CFE1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4937760" cy="7776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12"/>
                </a:lnSpc>
              </a:pPr>
              <a:r>
                <a:rPr lang="en-US" sz="201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Fase 1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73352" y="4978908"/>
            <a:ext cx="3703320" cy="384048"/>
            <a:chOff x="0" y="0"/>
            <a:chExt cx="4937760" cy="5120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937760" cy="512064"/>
            </a:xfrm>
            <a:custGeom>
              <a:avLst/>
              <a:gdLst/>
              <a:ahLst/>
              <a:cxnLst/>
              <a:rect r="r" b="b" t="t" l="l"/>
              <a:pathLst>
                <a:path h="512064" w="4937760">
                  <a:moveTo>
                    <a:pt x="0" y="0"/>
                  </a:moveTo>
                  <a:lnTo>
                    <a:pt x="4937760" y="0"/>
                  </a:lnTo>
                  <a:lnTo>
                    <a:pt x="493776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891" r="0" b="-137891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493776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S1–S4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673352" y="5596128"/>
            <a:ext cx="3703320" cy="617220"/>
            <a:chOff x="0" y="0"/>
            <a:chExt cx="4937760" cy="8229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937760" cy="822960"/>
            </a:xfrm>
            <a:custGeom>
              <a:avLst/>
              <a:gdLst/>
              <a:ahLst/>
              <a:cxnLst/>
              <a:rect r="r" b="b" t="t" l="l"/>
              <a:pathLst>
                <a:path h="822960" w="4937760">
                  <a:moveTo>
                    <a:pt x="0" y="0"/>
                  </a:moveTo>
                  <a:lnTo>
                    <a:pt x="4937760" y="0"/>
                  </a:lnTo>
                  <a:lnTo>
                    <a:pt x="493776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4937760" cy="822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5"/>
                </a:lnSpc>
              </a:pPr>
              <a:r>
                <a:rPr lang="en-US" sz="1604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Definición, planificación y documentación inicial.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850380" y="3764280"/>
            <a:ext cx="4610100" cy="2758440"/>
            <a:chOff x="0" y="0"/>
            <a:chExt cx="6146800" cy="36779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146800" cy="3677920"/>
            </a:xfrm>
            <a:custGeom>
              <a:avLst/>
              <a:gdLst/>
              <a:ahLst/>
              <a:cxnLst/>
              <a:rect r="r" b="b" t="t" l="l"/>
              <a:pathLst>
                <a:path h="3677920" w="6146800">
                  <a:moveTo>
                    <a:pt x="0" y="147066"/>
                  </a:moveTo>
                  <a:cubicBezTo>
                    <a:pt x="0" y="65913"/>
                    <a:pt x="65913" y="0"/>
                    <a:pt x="147066" y="0"/>
                  </a:cubicBezTo>
                  <a:lnTo>
                    <a:pt x="5999734" y="0"/>
                  </a:lnTo>
                  <a:cubicBezTo>
                    <a:pt x="6080887" y="0"/>
                    <a:pt x="6146800" y="65913"/>
                    <a:pt x="6146800" y="147066"/>
                  </a:cubicBezTo>
                  <a:lnTo>
                    <a:pt x="6146800" y="3530854"/>
                  </a:lnTo>
                  <a:cubicBezTo>
                    <a:pt x="6146800" y="3612134"/>
                    <a:pt x="6080887" y="3677920"/>
                    <a:pt x="5999734" y="3677920"/>
                  </a:cubicBezTo>
                  <a:lnTo>
                    <a:pt x="147066" y="3677920"/>
                  </a:lnTo>
                  <a:cubicBezTo>
                    <a:pt x="65913" y="3677920"/>
                    <a:pt x="0" y="3612007"/>
                    <a:pt x="0" y="3530854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7296912" y="4114800"/>
            <a:ext cx="3703320" cy="576072"/>
            <a:chOff x="0" y="0"/>
            <a:chExt cx="4937760" cy="76809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937760" cy="768096"/>
            </a:xfrm>
            <a:custGeom>
              <a:avLst/>
              <a:gdLst/>
              <a:ahLst/>
              <a:cxnLst/>
              <a:rect r="r" b="b" t="t" l="l"/>
              <a:pathLst>
                <a:path h="768096" w="4937760">
                  <a:moveTo>
                    <a:pt x="0" y="0"/>
                  </a:moveTo>
                  <a:lnTo>
                    <a:pt x="4937760" y="0"/>
                  </a:lnTo>
                  <a:lnTo>
                    <a:pt x="4937760" y="768096"/>
                  </a:lnTo>
                  <a:lnTo>
                    <a:pt x="0" y="768096"/>
                  </a:lnTo>
                  <a:close/>
                </a:path>
              </a:pathLst>
            </a:custGeom>
            <a:solidFill>
              <a:srgbClr val="FFD85A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4937760" cy="7776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12"/>
                </a:lnSpc>
              </a:pPr>
              <a:r>
                <a:rPr lang="en-US" sz="201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Fase 2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296912" y="4978908"/>
            <a:ext cx="3703320" cy="384048"/>
            <a:chOff x="0" y="0"/>
            <a:chExt cx="4937760" cy="51206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937760" cy="512064"/>
            </a:xfrm>
            <a:custGeom>
              <a:avLst/>
              <a:gdLst/>
              <a:ahLst/>
              <a:cxnLst/>
              <a:rect r="r" b="b" t="t" l="l"/>
              <a:pathLst>
                <a:path h="512064" w="4937760">
                  <a:moveTo>
                    <a:pt x="0" y="0"/>
                  </a:moveTo>
                  <a:lnTo>
                    <a:pt x="4937760" y="0"/>
                  </a:lnTo>
                  <a:lnTo>
                    <a:pt x="493776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891" r="0" b="-137891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493776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S5–S15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7296912" y="5596128"/>
            <a:ext cx="3703320" cy="617220"/>
            <a:chOff x="0" y="0"/>
            <a:chExt cx="4937760" cy="82296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937760" cy="822960"/>
            </a:xfrm>
            <a:custGeom>
              <a:avLst/>
              <a:gdLst/>
              <a:ahLst/>
              <a:cxnLst/>
              <a:rect r="r" b="b" t="t" l="l"/>
              <a:pathLst>
                <a:path h="822960" w="4937760">
                  <a:moveTo>
                    <a:pt x="0" y="0"/>
                  </a:moveTo>
                  <a:lnTo>
                    <a:pt x="4937760" y="0"/>
                  </a:lnTo>
                  <a:lnTo>
                    <a:pt x="493776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4937760" cy="822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5"/>
                </a:lnSpc>
              </a:pPr>
              <a:r>
                <a:rPr lang="en-US" sz="1604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Diseño y desarrollo por sprints, integración Transbank y pruebas.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2473940" y="3764280"/>
            <a:ext cx="4610100" cy="2758440"/>
            <a:chOff x="0" y="0"/>
            <a:chExt cx="6146800" cy="36779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146800" cy="3677920"/>
            </a:xfrm>
            <a:custGeom>
              <a:avLst/>
              <a:gdLst/>
              <a:ahLst/>
              <a:cxnLst/>
              <a:rect r="r" b="b" t="t" l="l"/>
              <a:pathLst>
                <a:path h="3677920" w="6146800">
                  <a:moveTo>
                    <a:pt x="0" y="147066"/>
                  </a:moveTo>
                  <a:cubicBezTo>
                    <a:pt x="0" y="65913"/>
                    <a:pt x="65913" y="0"/>
                    <a:pt x="147066" y="0"/>
                  </a:cubicBezTo>
                  <a:lnTo>
                    <a:pt x="5999734" y="0"/>
                  </a:lnTo>
                  <a:cubicBezTo>
                    <a:pt x="6080887" y="0"/>
                    <a:pt x="6146800" y="65913"/>
                    <a:pt x="6146800" y="147066"/>
                  </a:cubicBezTo>
                  <a:lnTo>
                    <a:pt x="6146800" y="3530854"/>
                  </a:lnTo>
                  <a:cubicBezTo>
                    <a:pt x="6146800" y="3612134"/>
                    <a:pt x="6080887" y="3677920"/>
                    <a:pt x="5999734" y="3677920"/>
                  </a:cubicBezTo>
                  <a:lnTo>
                    <a:pt x="147066" y="3677920"/>
                  </a:lnTo>
                  <a:cubicBezTo>
                    <a:pt x="65913" y="3677920"/>
                    <a:pt x="0" y="3612007"/>
                    <a:pt x="0" y="3530854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2920472" y="4114800"/>
            <a:ext cx="3703320" cy="576072"/>
            <a:chOff x="0" y="0"/>
            <a:chExt cx="4937760" cy="76809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937760" cy="768096"/>
            </a:xfrm>
            <a:custGeom>
              <a:avLst/>
              <a:gdLst/>
              <a:ahLst/>
              <a:cxnLst/>
              <a:rect r="r" b="b" t="t" l="l"/>
              <a:pathLst>
                <a:path h="768096" w="4937760">
                  <a:moveTo>
                    <a:pt x="0" y="0"/>
                  </a:moveTo>
                  <a:lnTo>
                    <a:pt x="4937760" y="0"/>
                  </a:lnTo>
                  <a:lnTo>
                    <a:pt x="4937760" y="768096"/>
                  </a:lnTo>
                  <a:lnTo>
                    <a:pt x="0" y="768096"/>
                  </a:lnTo>
                  <a:close/>
                </a:path>
              </a:pathLst>
            </a:custGeom>
            <a:solidFill>
              <a:srgbClr val="79D957"/>
            </a:solid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"/>
              <a:ext cx="4937760" cy="7776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12"/>
                </a:lnSpc>
              </a:pPr>
              <a:r>
                <a:rPr lang="en-US" sz="201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Fase 3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920472" y="4978908"/>
            <a:ext cx="3703320" cy="384048"/>
            <a:chOff x="0" y="0"/>
            <a:chExt cx="4937760" cy="5120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937760" cy="512064"/>
            </a:xfrm>
            <a:custGeom>
              <a:avLst/>
              <a:gdLst/>
              <a:ahLst/>
              <a:cxnLst/>
              <a:rect r="r" b="b" t="t" l="l"/>
              <a:pathLst>
                <a:path h="512064" w="4937760">
                  <a:moveTo>
                    <a:pt x="0" y="0"/>
                  </a:moveTo>
                  <a:lnTo>
                    <a:pt x="4937760" y="0"/>
                  </a:lnTo>
                  <a:lnTo>
                    <a:pt x="493776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891" r="0" b="-13789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0"/>
              <a:ext cx="4937760" cy="512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S16–S18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2920472" y="5596128"/>
            <a:ext cx="3703320" cy="617220"/>
            <a:chOff x="0" y="0"/>
            <a:chExt cx="4937760" cy="8229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937760" cy="822960"/>
            </a:xfrm>
            <a:custGeom>
              <a:avLst/>
              <a:gdLst/>
              <a:ahLst/>
              <a:cxnLst/>
              <a:rect r="r" b="b" t="t" l="l"/>
              <a:pathLst>
                <a:path h="822960" w="4937760">
                  <a:moveTo>
                    <a:pt x="0" y="0"/>
                  </a:moveTo>
                  <a:lnTo>
                    <a:pt x="4937760" y="0"/>
                  </a:lnTo>
                  <a:lnTo>
                    <a:pt x="493776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4937760" cy="822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5"/>
                </a:lnSpc>
              </a:pPr>
              <a:r>
                <a:rPr lang="en-US" sz="1604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Validación final, mejoras, despliegue Railway y presentación.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1795760" y="9134856"/>
            <a:ext cx="5074920" cy="274320"/>
            <a:chOff x="0" y="0"/>
            <a:chExt cx="6766560" cy="36576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766560" cy="365760"/>
            </a:xfrm>
            <a:custGeom>
              <a:avLst/>
              <a:gdLst/>
              <a:ahLst/>
              <a:cxnLst/>
              <a:rect r="r" b="b" t="t" l="l"/>
              <a:pathLst>
                <a:path h="365760" w="6766560">
                  <a:moveTo>
                    <a:pt x="0" y="0"/>
                  </a:moveTo>
                  <a:lnTo>
                    <a:pt x="6766560" y="0"/>
                  </a:lnTo>
                  <a:lnTo>
                    <a:pt x="676656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0473" r="0" b="-310473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676656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475"/>
                </a:lnSpc>
              </a:pPr>
              <a:r>
                <a:rPr lang="en-US" sz="1230" i="true">
                  <a:solidFill>
                    <a:srgbClr val="7B8794"/>
                  </a:solidFill>
                  <a:latin typeface="Aptos Italics"/>
                  <a:ea typeface="Aptos Italics"/>
                  <a:cs typeface="Aptos Italics"/>
                  <a:sym typeface="Aptos Italics"/>
                </a:rPr>
                <a:t>Referencia: Schwaber &amp; Sutherland (2020)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Plan de trabajo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Actividades principales durante 18 semanas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10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1080" y="1885188"/>
            <a:ext cx="16200120" cy="5844540"/>
            <a:chOff x="0" y="0"/>
            <a:chExt cx="21600160" cy="77927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600159" cy="7792720"/>
            </a:xfrm>
            <a:custGeom>
              <a:avLst/>
              <a:gdLst/>
              <a:ahLst/>
              <a:cxnLst/>
              <a:rect r="r" b="b" t="t" l="l"/>
              <a:pathLst>
                <a:path h="7792720" w="21600159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21453475" y="0"/>
                  </a:lnTo>
                  <a:cubicBezTo>
                    <a:pt x="21534501" y="0"/>
                    <a:pt x="21600159" y="65659"/>
                    <a:pt x="21600159" y="146685"/>
                  </a:cubicBezTo>
                  <a:lnTo>
                    <a:pt x="21600159" y="7646035"/>
                  </a:lnTo>
                  <a:cubicBezTo>
                    <a:pt x="21600159" y="7727061"/>
                    <a:pt x="21534501" y="7792720"/>
                    <a:pt x="21453475" y="7792720"/>
                  </a:cubicBezTo>
                  <a:lnTo>
                    <a:pt x="146685" y="7792720"/>
                  </a:lnTo>
                  <a:cubicBezTo>
                    <a:pt x="65659" y="7792720"/>
                    <a:pt x="0" y="7727061"/>
                    <a:pt x="0" y="7646035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440180" y="2372868"/>
            <a:ext cx="1577340" cy="521208"/>
            <a:chOff x="0" y="0"/>
            <a:chExt cx="2103120" cy="69494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03120" cy="694944"/>
            </a:xfrm>
            <a:custGeom>
              <a:avLst/>
              <a:gdLst/>
              <a:ahLst/>
              <a:cxnLst/>
              <a:rect r="r" b="b" t="t" l="l"/>
              <a:pathLst>
                <a:path h="69494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694944"/>
                  </a:lnTo>
                  <a:lnTo>
                    <a:pt x="0" y="694944"/>
                  </a:lnTo>
                  <a:close/>
                </a:path>
              </a:pathLst>
            </a:custGeom>
            <a:solidFill>
              <a:srgbClr val="37CFE1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2103120" cy="704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  <a:r>
                <a:rPr lang="en-US" sz="1679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S1–S4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60420" y="2427732"/>
            <a:ext cx="2537460" cy="342900"/>
            <a:chOff x="0" y="0"/>
            <a:chExt cx="3383280" cy="4572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83280" cy="457200"/>
            </a:xfrm>
            <a:custGeom>
              <a:avLst/>
              <a:gdLst/>
              <a:ahLst/>
              <a:cxnLst/>
              <a:rect r="r" b="b" t="t" l="l"/>
              <a:pathLst>
                <a:path h="4572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4189" r="0" b="-94189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338328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Fase 1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6240780" y="2427732"/>
            <a:ext cx="10012680" cy="342900"/>
            <a:chOff x="0" y="0"/>
            <a:chExt cx="13350240" cy="4572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3350239" cy="457200"/>
            </a:xfrm>
            <a:custGeom>
              <a:avLst/>
              <a:gdLst/>
              <a:ahLst/>
              <a:cxnLst/>
              <a:rect r="r" b="b" t="t" l="l"/>
              <a:pathLst>
                <a:path h="457200" w="13350239">
                  <a:moveTo>
                    <a:pt x="0" y="0"/>
                  </a:moveTo>
                  <a:lnTo>
                    <a:pt x="13350239" y="0"/>
                  </a:lnTo>
                  <a:lnTo>
                    <a:pt x="13350239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8963" r="0" b="-51896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1335024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Definición, alcance, documentación y cierre de fase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 rot="3060">
            <a:off x="1433512" y="3122486"/>
            <a:ext cx="14963785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2" id="32"/>
          <p:cNvGrpSpPr/>
          <p:nvPr/>
        </p:nvGrpSpPr>
        <p:grpSpPr>
          <a:xfrm rot="0">
            <a:off x="1440180" y="3360420"/>
            <a:ext cx="1577340" cy="521208"/>
            <a:chOff x="0" y="0"/>
            <a:chExt cx="2103120" cy="69494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03120" cy="694944"/>
            </a:xfrm>
            <a:custGeom>
              <a:avLst/>
              <a:gdLst/>
              <a:ahLst/>
              <a:cxnLst/>
              <a:rect r="r" b="b" t="t" l="l"/>
              <a:pathLst>
                <a:path h="69494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694944"/>
                  </a:lnTo>
                  <a:lnTo>
                    <a:pt x="0" y="694944"/>
                  </a:lnTo>
                  <a:close/>
                </a:path>
              </a:pathLst>
            </a:custGeom>
            <a:solidFill>
              <a:srgbClr val="37CFE1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2103120" cy="704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  <a:r>
                <a:rPr lang="en-US" sz="1679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S5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3360420" y="3415284"/>
            <a:ext cx="2537460" cy="342900"/>
            <a:chOff x="0" y="0"/>
            <a:chExt cx="3383280" cy="4572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383280" cy="457200"/>
            </a:xfrm>
            <a:custGeom>
              <a:avLst/>
              <a:gdLst/>
              <a:ahLst/>
              <a:cxnLst/>
              <a:rect r="r" b="b" t="t" l="l"/>
              <a:pathLst>
                <a:path h="4572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4189" r="0" b="-94189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338328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Preparación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240780" y="3415284"/>
            <a:ext cx="10012680" cy="342900"/>
            <a:chOff x="0" y="0"/>
            <a:chExt cx="13350240" cy="4572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3350239" cy="457200"/>
            </a:xfrm>
            <a:custGeom>
              <a:avLst/>
              <a:gdLst/>
              <a:ahLst/>
              <a:cxnLst/>
              <a:rect r="r" b="b" t="t" l="l"/>
              <a:pathLst>
                <a:path h="457200" w="13350239">
                  <a:moveTo>
                    <a:pt x="0" y="0"/>
                  </a:moveTo>
                  <a:lnTo>
                    <a:pt x="13350239" y="0"/>
                  </a:lnTo>
                  <a:lnTo>
                    <a:pt x="13350239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8963" r="0" b="-518963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1335024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Product Backlog y entorno de desarrollo</a:t>
              </a:r>
            </a:p>
          </p:txBody>
        </p:sp>
      </p:grpSp>
      <p:sp>
        <p:nvSpPr>
          <p:cNvPr name="AutoShape 41" id="41"/>
          <p:cNvSpPr/>
          <p:nvPr/>
        </p:nvSpPr>
        <p:spPr>
          <a:xfrm rot="3060">
            <a:off x="1433512" y="4110038"/>
            <a:ext cx="14963785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2" id="42"/>
          <p:cNvGrpSpPr/>
          <p:nvPr/>
        </p:nvGrpSpPr>
        <p:grpSpPr>
          <a:xfrm rot="0">
            <a:off x="1440180" y="4347972"/>
            <a:ext cx="1577340" cy="521208"/>
            <a:chOff x="0" y="0"/>
            <a:chExt cx="2103120" cy="69494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103120" cy="694944"/>
            </a:xfrm>
            <a:custGeom>
              <a:avLst/>
              <a:gdLst/>
              <a:ahLst/>
              <a:cxnLst/>
              <a:rect r="r" b="b" t="t" l="l"/>
              <a:pathLst>
                <a:path h="69494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694944"/>
                  </a:lnTo>
                  <a:lnTo>
                    <a:pt x="0" y="694944"/>
                  </a:lnTo>
                  <a:close/>
                </a:path>
              </a:pathLst>
            </a:custGeom>
            <a:solidFill>
              <a:srgbClr val="FFD85A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2103120" cy="704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  <a:r>
                <a:rPr lang="en-US" sz="1679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S6–S13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3360420" y="4402836"/>
            <a:ext cx="2537460" cy="342900"/>
            <a:chOff x="0" y="0"/>
            <a:chExt cx="3383280" cy="4572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383280" cy="457200"/>
            </a:xfrm>
            <a:custGeom>
              <a:avLst/>
              <a:gdLst/>
              <a:ahLst/>
              <a:cxnLst/>
              <a:rect r="r" b="b" t="t" l="l"/>
              <a:pathLst>
                <a:path h="4572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4189" r="0" b="-94189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338328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Sprints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6240780" y="4402836"/>
            <a:ext cx="10012680" cy="342900"/>
            <a:chOff x="0" y="0"/>
            <a:chExt cx="13350240" cy="4572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3350239" cy="457200"/>
            </a:xfrm>
            <a:custGeom>
              <a:avLst/>
              <a:gdLst/>
              <a:ahLst/>
              <a:cxnLst/>
              <a:rect r="r" b="b" t="t" l="l"/>
              <a:pathLst>
                <a:path h="457200" w="13350239">
                  <a:moveTo>
                    <a:pt x="0" y="0"/>
                  </a:moveTo>
                  <a:lnTo>
                    <a:pt x="13350239" y="0"/>
                  </a:lnTo>
                  <a:lnTo>
                    <a:pt x="13350239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8963" r="0" b="-518963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1335024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Arquitectura, autenticación, perfiles, reservas y comunicación</a:t>
              </a:r>
            </a:p>
          </p:txBody>
        </p:sp>
      </p:grpSp>
      <p:sp>
        <p:nvSpPr>
          <p:cNvPr name="AutoShape 51" id="51"/>
          <p:cNvSpPr/>
          <p:nvPr/>
        </p:nvSpPr>
        <p:spPr>
          <a:xfrm rot="3060">
            <a:off x="1433512" y="5097590"/>
            <a:ext cx="14963785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2" id="52"/>
          <p:cNvGrpSpPr/>
          <p:nvPr/>
        </p:nvGrpSpPr>
        <p:grpSpPr>
          <a:xfrm rot="0">
            <a:off x="1440180" y="5335524"/>
            <a:ext cx="1577340" cy="521208"/>
            <a:chOff x="0" y="0"/>
            <a:chExt cx="2103120" cy="69494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103120" cy="694944"/>
            </a:xfrm>
            <a:custGeom>
              <a:avLst/>
              <a:gdLst/>
              <a:ahLst/>
              <a:cxnLst/>
              <a:rect r="r" b="b" t="t" l="l"/>
              <a:pathLst>
                <a:path h="69494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694944"/>
                  </a:lnTo>
                  <a:lnTo>
                    <a:pt x="0" y="694944"/>
                  </a:lnTo>
                  <a:close/>
                </a:path>
              </a:pathLst>
            </a:custGeom>
            <a:solidFill>
              <a:srgbClr val="FFD85A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2103120" cy="704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  <a:r>
                <a:rPr lang="en-US" sz="1679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S14–S15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3360420" y="5390388"/>
            <a:ext cx="2537460" cy="342900"/>
            <a:chOff x="0" y="0"/>
            <a:chExt cx="3383280" cy="4572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383280" cy="457200"/>
            </a:xfrm>
            <a:custGeom>
              <a:avLst/>
              <a:gdLst/>
              <a:ahLst/>
              <a:cxnLst/>
              <a:rect r="r" b="b" t="t" l="l"/>
              <a:pathLst>
                <a:path h="4572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4189" r="0" b="-94189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0"/>
              <a:ext cx="338328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Integración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6240780" y="5390388"/>
            <a:ext cx="10012680" cy="342900"/>
            <a:chOff x="0" y="0"/>
            <a:chExt cx="13350240" cy="4572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3350239" cy="457200"/>
            </a:xfrm>
            <a:custGeom>
              <a:avLst/>
              <a:gdLst/>
              <a:ahLst/>
              <a:cxnLst/>
              <a:rect r="r" b="b" t="t" l="l"/>
              <a:pathLst>
                <a:path h="457200" w="13350239">
                  <a:moveTo>
                    <a:pt x="0" y="0"/>
                  </a:moveTo>
                  <a:lnTo>
                    <a:pt x="13350239" y="0"/>
                  </a:lnTo>
                  <a:lnTo>
                    <a:pt x="13350239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8963" r="0" b="-518963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1335024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Pagos Transbank, administración y pruebas Fase 2</a:t>
              </a:r>
            </a:p>
          </p:txBody>
        </p:sp>
      </p:grpSp>
      <p:sp>
        <p:nvSpPr>
          <p:cNvPr name="AutoShape 61" id="61"/>
          <p:cNvSpPr/>
          <p:nvPr/>
        </p:nvSpPr>
        <p:spPr>
          <a:xfrm rot="3060">
            <a:off x="1433512" y="6085142"/>
            <a:ext cx="14963785" cy="0"/>
          </a:xfrm>
          <a:prstGeom prst="line">
            <a:avLst/>
          </a:prstGeom>
          <a:ln cap="rnd" w="9525">
            <a:solidFill>
              <a:srgbClr val="DCE5E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2" id="62"/>
          <p:cNvGrpSpPr/>
          <p:nvPr/>
        </p:nvGrpSpPr>
        <p:grpSpPr>
          <a:xfrm rot="0">
            <a:off x="1440180" y="6323076"/>
            <a:ext cx="1577340" cy="521208"/>
            <a:chOff x="0" y="0"/>
            <a:chExt cx="2103120" cy="69494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103120" cy="694944"/>
            </a:xfrm>
            <a:custGeom>
              <a:avLst/>
              <a:gdLst/>
              <a:ahLst/>
              <a:cxnLst/>
              <a:rect r="r" b="b" t="t" l="l"/>
              <a:pathLst>
                <a:path h="69494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694944"/>
                  </a:lnTo>
                  <a:lnTo>
                    <a:pt x="0" y="694944"/>
                  </a:lnTo>
                  <a:close/>
                </a:path>
              </a:pathLst>
            </a:custGeom>
            <a:solidFill>
              <a:srgbClr val="79D957"/>
            </a:solid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9525"/>
              <a:ext cx="2103120" cy="704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  <a:r>
                <a:rPr lang="en-US" sz="1679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S16–S18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3360420" y="6377940"/>
            <a:ext cx="2537460" cy="342900"/>
            <a:chOff x="0" y="0"/>
            <a:chExt cx="3383280" cy="4572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383280" cy="457200"/>
            </a:xfrm>
            <a:custGeom>
              <a:avLst/>
              <a:gdLst/>
              <a:ahLst/>
              <a:cxnLst/>
              <a:rect r="r" b="b" t="t" l="l"/>
              <a:pathLst>
                <a:path h="4572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4189" r="0" b="-94189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0"/>
              <a:ext cx="338328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Cierre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240780" y="6377940"/>
            <a:ext cx="10012680" cy="342900"/>
            <a:chOff x="0" y="0"/>
            <a:chExt cx="13350240" cy="4572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3350239" cy="457200"/>
            </a:xfrm>
            <a:custGeom>
              <a:avLst/>
              <a:gdLst/>
              <a:ahLst/>
              <a:cxnLst/>
              <a:rect r="r" b="b" t="t" l="l"/>
              <a:pathLst>
                <a:path h="457200" w="13350239">
                  <a:moveTo>
                    <a:pt x="0" y="0"/>
                  </a:moveTo>
                  <a:lnTo>
                    <a:pt x="13350239" y="0"/>
                  </a:lnTo>
                  <a:lnTo>
                    <a:pt x="13350239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8963" r="0" b="-51896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0"/>
              <a:ext cx="1335024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Validación, mejoras, Railway y presentación final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165860" y="8435340"/>
            <a:ext cx="2743200" cy="329184"/>
            <a:chOff x="0" y="0"/>
            <a:chExt cx="3657600" cy="43891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657600" cy="438912"/>
            </a:xfrm>
            <a:custGeom>
              <a:avLst/>
              <a:gdLst/>
              <a:ahLst/>
              <a:cxnLst/>
              <a:rect r="r" b="b" t="t" l="l"/>
              <a:pathLst>
                <a:path h="438912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0"/>
              <a:ext cx="3657600" cy="4389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0E5AA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Responsables clave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4183380" y="8394192"/>
            <a:ext cx="12481560" cy="411480"/>
            <a:chOff x="0" y="0"/>
            <a:chExt cx="16642080" cy="5486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6642080" cy="548640"/>
            </a:xfrm>
            <a:custGeom>
              <a:avLst/>
              <a:gdLst/>
              <a:ahLst/>
              <a:cxnLst/>
              <a:rect r="r" b="b" t="t" l="l"/>
              <a:pathLst>
                <a:path h="548640" w="16642080">
                  <a:moveTo>
                    <a:pt x="0" y="0"/>
                  </a:moveTo>
                  <a:lnTo>
                    <a:pt x="16642080" y="0"/>
                  </a:lnTo>
                  <a:lnTo>
                    <a:pt x="16642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41046" r="0" b="-541046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0"/>
              <a:ext cx="16642080" cy="548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88"/>
                </a:lnSpc>
              </a:pPr>
              <a:r>
                <a:rPr lang="en-US" sz="1739">
                  <a:solidFill>
                    <a:srgbClr val="17213A"/>
                  </a:solidFill>
                  <a:latin typeface="Aptos"/>
                  <a:ea typeface="Aptos"/>
                  <a:cs typeface="Aptos"/>
                  <a:sym typeface="Aptos"/>
                </a:rPr>
                <a:t>Francheska: gestión y seguimiento · Franco: backend/datos · Benjamín: frontend/UX · Todo el equipo: pruebas y cierre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Carta Gantt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Distribución temporal de actividades y fases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11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0392" y="9086393"/>
            <a:ext cx="15636240" cy="356616"/>
            <a:chOff x="0" y="0"/>
            <a:chExt cx="20848320" cy="47548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848320" cy="475488"/>
            </a:xfrm>
            <a:custGeom>
              <a:avLst/>
              <a:gdLst/>
              <a:ahLst/>
              <a:cxnLst/>
              <a:rect r="r" b="b" t="t" l="l"/>
              <a:pathLst>
                <a:path h="475488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04344" r="0" b="-804344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084832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Fase 1: definición · Fase 2: sprints e integración · Fase 3: validación y despliegue</a:t>
              </a: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14005052" y="1859474"/>
            <a:ext cx="2091396" cy="2810836"/>
          </a:xfrm>
          <a:custGeom>
            <a:avLst/>
            <a:gdLst/>
            <a:ahLst/>
            <a:cxnLst/>
            <a:rect r="r" b="b" t="t" l="l"/>
            <a:pathLst>
              <a:path h="2810836" w="2091396">
                <a:moveTo>
                  <a:pt x="0" y="0"/>
                </a:moveTo>
                <a:lnTo>
                  <a:pt x="2091396" y="0"/>
                </a:lnTo>
                <a:lnTo>
                  <a:pt x="2091396" y="2810836"/>
                </a:lnTo>
                <a:lnTo>
                  <a:pt x="0" y="28108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877824" y="1859474"/>
            <a:ext cx="11514020" cy="6769719"/>
          </a:xfrm>
          <a:custGeom>
            <a:avLst/>
            <a:gdLst/>
            <a:ahLst/>
            <a:cxnLst/>
            <a:rect r="r" b="b" t="t" l="l"/>
            <a:pathLst>
              <a:path h="6769719" w="11514020">
                <a:moveTo>
                  <a:pt x="0" y="0"/>
                </a:moveTo>
                <a:lnTo>
                  <a:pt x="11514020" y="0"/>
                </a:lnTo>
                <a:lnTo>
                  <a:pt x="11514020" y="6769719"/>
                </a:lnTo>
                <a:lnTo>
                  <a:pt x="0" y="67697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159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Factibilidad y gestión de riesgos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Recursos disponibles y posibles obstaculizadores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12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34440" y="2125980"/>
            <a:ext cx="1577340" cy="658368"/>
            <a:chOff x="0" y="0"/>
            <a:chExt cx="2103120" cy="87782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03120" cy="877824"/>
            </a:xfrm>
            <a:custGeom>
              <a:avLst/>
              <a:gdLst/>
              <a:ahLst/>
              <a:cxnLst/>
              <a:rect r="r" b="b" t="t" l="l"/>
              <a:pathLst>
                <a:path h="87782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2" t="0" r="-3552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103120" cy="87782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220"/>
                </a:lnSpc>
              </a:pPr>
              <a:r>
                <a:rPr lang="en-US" sz="4350" b="true">
                  <a:solidFill>
                    <a:srgbClr val="37CFE1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18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234440" y="2880360"/>
            <a:ext cx="1577340" cy="356616"/>
            <a:chOff x="0" y="0"/>
            <a:chExt cx="2103120" cy="47548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03120" cy="475488"/>
            </a:xfrm>
            <a:custGeom>
              <a:avLst/>
              <a:gdLst/>
              <a:ahLst/>
              <a:cxnLst/>
              <a:rect r="r" b="b" t="t" l="l"/>
              <a:pathLst>
                <a:path h="475488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183" r="0" b="-36183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210312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semanas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3291840" y="2125980"/>
            <a:ext cx="1577340" cy="658368"/>
            <a:chOff x="0" y="0"/>
            <a:chExt cx="2103120" cy="87782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03120" cy="877824"/>
            </a:xfrm>
            <a:custGeom>
              <a:avLst/>
              <a:gdLst/>
              <a:ahLst/>
              <a:cxnLst/>
              <a:rect r="r" b="b" t="t" l="l"/>
              <a:pathLst>
                <a:path h="87782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2" t="0" r="-3552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03120" cy="87782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220"/>
                </a:lnSpc>
              </a:pPr>
              <a:r>
                <a:rPr lang="en-US" sz="4350" b="true">
                  <a:solidFill>
                    <a:srgbClr val="8B5CF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3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3291840" y="2880360"/>
            <a:ext cx="1577340" cy="356616"/>
            <a:chOff x="0" y="0"/>
            <a:chExt cx="2103120" cy="47548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103120" cy="475488"/>
            </a:xfrm>
            <a:custGeom>
              <a:avLst/>
              <a:gdLst/>
              <a:ahLst/>
              <a:cxnLst/>
              <a:rect r="r" b="b" t="t" l="l"/>
              <a:pathLst>
                <a:path h="475488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183" r="0" b="-36183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0"/>
              <a:ext cx="210312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integrantes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349240" y="2125980"/>
            <a:ext cx="1577340" cy="658368"/>
            <a:chOff x="0" y="0"/>
            <a:chExt cx="2103120" cy="87782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03120" cy="877824"/>
            </a:xfrm>
            <a:custGeom>
              <a:avLst/>
              <a:gdLst/>
              <a:ahLst/>
              <a:cxnLst/>
              <a:rect r="r" b="b" t="t" l="l"/>
              <a:pathLst>
                <a:path h="87782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2" t="0" r="-3552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03120" cy="87782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220"/>
                </a:lnSpc>
              </a:pPr>
              <a:r>
                <a:rPr lang="en-US" sz="435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12h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349240" y="2880360"/>
            <a:ext cx="1577340" cy="356616"/>
            <a:chOff x="0" y="0"/>
            <a:chExt cx="2103120" cy="47548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103120" cy="475488"/>
            </a:xfrm>
            <a:custGeom>
              <a:avLst/>
              <a:gdLst/>
              <a:ahLst/>
              <a:cxnLst/>
              <a:rect r="r" b="b" t="t" l="l"/>
              <a:pathLst>
                <a:path h="475488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183" r="0" b="-36183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210312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4"/>
                </a:lnSpc>
              </a:pPr>
              <a:r>
                <a:rPr lang="en-US" sz="1470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semanales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084820" y="1981200"/>
            <a:ext cx="8519160" cy="1551432"/>
            <a:chOff x="0" y="0"/>
            <a:chExt cx="11358880" cy="206857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358880" cy="2068576"/>
            </a:xfrm>
            <a:custGeom>
              <a:avLst/>
              <a:gdLst/>
              <a:ahLst/>
              <a:cxnLst/>
              <a:rect r="r" b="b" t="t" l="l"/>
              <a:pathLst>
                <a:path h="2068576" w="11358880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11211179" y="0"/>
                  </a:lnTo>
                  <a:cubicBezTo>
                    <a:pt x="11292840" y="0"/>
                    <a:pt x="11358880" y="66167"/>
                    <a:pt x="11358880" y="147701"/>
                  </a:cubicBezTo>
                  <a:lnTo>
                    <a:pt x="11358880" y="1920875"/>
                  </a:lnTo>
                  <a:cubicBezTo>
                    <a:pt x="11358880" y="2002536"/>
                    <a:pt x="11292713" y="2068576"/>
                    <a:pt x="11211179" y="2068576"/>
                  </a:cubicBezTo>
                  <a:lnTo>
                    <a:pt x="147701" y="2068576"/>
                  </a:lnTo>
                  <a:cubicBezTo>
                    <a:pt x="66167" y="2068576"/>
                    <a:pt x="0" y="2002409"/>
                    <a:pt x="0" y="1920875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8476488" y="2290572"/>
            <a:ext cx="3566160" cy="342900"/>
            <a:chOff x="0" y="0"/>
            <a:chExt cx="4754880" cy="4572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754880" cy="457200"/>
            </a:xfrm>
            <a:custGeom>
              <a:avLst/>
              <a:gdLst/>
              <a:ahLst/>
              <a:cxnLst/>
              <a:rect r="r" b="b" t="t" l="l"/>
              <a:pathLst>
                <a:path h="45720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2644" r="0" b="-152644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0"/>
              <a:ext cx="4754880" cy="457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75"/>
                </a:lnSpc>
              </a:pPr>
              <a:r>
                <a:rPr lang="en-US" sz="1979" b="true">
                  <a:solidFill>
                    <a:srgbClr val="0E5AA7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Recursos principales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8476488" y="2839212"/>
            <a:ext cx="7708392" cy="411480"/>
            <a:chOff x="0" y="0"/>
            <a:chExt cx="10277856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277856" cy="548640"/>
            </a:xfrm>
            <a:custGeom>
              <a:avLst/>
              <a:gdLst/>
              <a:ahLst/>
              <a:cxnLst/>
              <a:rect r="r" b="b" t="t" l="l"/>
              <a:pathLst>
                <a:path h="548640" w="10277856">
                  <a:moveTo>
                    <a:pt x="0" y="0"/>
                  </a:moveTo>
                  <a:lnTo>
                    <a:pt x="10277856" y="0"/>
                  </a:lnTo>
                  <a:lnTo>
                    <a:pt x="1027785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5019" r="0" b="-315019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10277856" cy="548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Computadores · Internet · GitHub · Figma · Python · Django · MongoDB · Transbank · Railway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158240" y="4957572"/>
            <a:ext cx="7284720" cy="2552700"/>
            <a:chOff x="0" y="0"/>
            <a:chExt cx="9712960" cy="34036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9712961" cy="3403600"/>
            </a:xfrm>
            <a:custGeom>
              <a:avLst/>
              <a:gdLst/>
              <a:ahLst/>
              <a:cxnLst/>
              <a:rect r="r" b="b" t="t" l="l"/>
              <a:pathLst>
                <a:path h="3403600" w="9712961">
                  <a:moveTo>
                    <a:pt x="0" y="147193"/>
                  </a:moveTo>
                  <a:cubicBezTo>
                    <a:pt x="0" y="65913"/>
                    <a:pt x="65913" y="0"/>
                    <a:pt x="147193" y="0"/>
                  </a:cubicBezTo>
                  <a:lnTo>
                    <a:pt x="9565767" y="0"/>
                  </a:lnTo>
                  <a:cubicBezTo>
                    <a:pt x="9647048" y="0"/>
                    <a:pt x="9712961" y="65913"/>
                    <a:pt x="9712961" y="147193"/>
                  </a:cubicBezTo>
                  <a:lnTo>
                    <a:pt x="9712961" y="3256407"/>
                  </a:lnTo>
                  <a:cubicBezTo>
                    <a:pt x="9712961" y="3337687"/>
                    <a:pt x="9647048" y="3403600"/>
                    <a:pt x="9565767" y="3403600"/>
                  </a:cubicBezTo>
                  <a:lnTo>
                    <a:pt x="147193" y="3403600"/>
                  </a:lnTo>
                  <a:cubicBezTo>
                    <a:pt x="65913" y="3403600"/>
                    <a:pt x="0" y="3337687"/>
                    <a:pt x="0" y="3256407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156335" y="4955667"/>
            <a:ext cx="128778" cy="2556510"/>
            <a:chOff x="0" y="0"/>
            <a:chExt cx="171704" cy="34086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71704" cy="3408680"/>
            </a:xfrm>
            <a:custGeom>
              <a:avLst/>
              <a:gdLst/>
              <a:ahLst/>
              <a:cxnLst/>
              <a:rect r="r" b="b" t="t" l="l"/>
              <a:pathLst>
                <a:path h="3408680" w="171704">
                  <a:moveTo>
                    <a:pt x="0" y="0"/>
                  </a:moveTo>
                  <a:lnTo>
                    <a:pt x="171704" y="0"/>
                  </a:lnTo>
                  <a:lnTo>
                    <a:pt x="171704" y="3408680"/>
                  </a:lnTo>
                  <a:lnTo>
                    <a:pt x="0" y="3408680"/>
                  </a:lnTo>
                  <a:close/>
                </a:path>
              </a:pathLst>
            </a:custGeom>
            <a:solidFill>
              <a:srgbClr val="FF6B6B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467612" y="5212080"/>
            <a:ext cx="6652260" cy="384048"/>
            <a:chOff x="0" y="0"/>
            <a:chExt cx="8869680" cy="5120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869680" cy="512064"/>
            </a:xfrm>
            <a:custGeom>
              <a:avLst/>
              <a:gdLst/>
              <a:ahLst/>
              <a:cxnLst/>
              <a:rect r="r" b="b" t="t" l="l"/>
              <a:pathLst>
                <a:path h="512064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7508" r="0" b="-287508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886968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Riesgos identificados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467612" y="5815584"/>
            <a:ext cx="6652260" cy="1467612"/>
            <a:chOff x="0" y="0"/>
            <a:chExt cx="8869680" cy="195681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869680" cy="1956816"/>
            </a:xfrm>
            <a:custGeom>
              <a:avLst/>
              <a:gdLst/>
              <a:ahLst/>
              <a:cxnLst/>
              <a:rect r="r" b="b" t="t" l="l"/>
              <a:pathLst>
                <a:path h="195681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1956816"/>
                  </a:lnTo>
                  <a:lnTo>
                    <a:pt x="0" y="19568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320" r="0" b="-3832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8869680" cy="1956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Disponibilidad de tiempo y coordinación del equipo.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Complejidad de funcionalidades e integración con servicios externos.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Posibles incidencias durante pruebas o despliegue.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9662160" y="4957572"/>
            <a:ext cx="6736080" cy="2552700"/>
            <a:chOff x="0" y="0"/>
            <a:chExt cx="8981440" cy="34036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8981440" cy="3403600"/>
            </a:xfrm>
            <a:custGeom>
              <a:avLst/>
              <a:gdLst/>
              <a:ahLst/>
              <a:cxnLst/>
              <a:rect r="r" b="b" t="t" l="l"/>
              <a:pathLst>
                <a:path h="3403600" w="8981440">
                  <a:moveTo>
                    <a:pt x="0" y="147193"/>
                  </a:moveTo>
                  <a:cubicBezTo>
                    <a:pt x="0" y="65913"/>
                    <a:pt x="65913" y="0"/>
                    <a:pt x="147193" y="0"/>
                  </a:cubicBezTo>
                  <a:lnTo>
                    <a:pt x="8834247" y="0"/>
                  </a:lnTo>
                  <a:cubicBezTo>
                    <a:pt x="8915527" y="0"/>
                    <a:pt x="8981440" y="65913"/>
                    <a:pt x="8981440" y="147193"/>
                  </a:cubicBezTo>
                  <a:lnTo>
                    <a:pt x="8981440" y="3256407"/>
                  </a:lnTo>
                  <a:cubicBezTo>
                    <a:pt x="8981440" y="3337687"/>
                    <a:pt x="8915527" y="3403600"/>
                    <a:pt x="8834247" y="3403600"/>
                  </a:cubicBezTo>
                  <a:lnTo>
                    <a:pt x="147193" y="3403600"/>
                  </a:lnTo>
                  <a:cubicBezTo>
                    <a:pt x="65913" y="3403600"/>
                    <a:pt x="0" y="3337687"/>
                    <a:pt x="0" y="3256407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9660255" y="4955667"/>
            <a:ext cx="128778" cy="2556510"/>
            <a:chOff x="0" y="0"/>
            <a:chExt cx="171704" cy="34086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71704" cy="3408680"/>
            </a:xfrm>
            <a:custGeom>
              <a:avLst/>
              <a:gdLst/>
              <a:ahLst/>
              <a:cxnLst/>
              <a:rect r="r" b="b" t="t" l="l"/>
              <a:pathLst>
                <a:path h="3408680" w="171704">
                  <a:moveTo>
                    <a:pt x="0" y="0"/>
                  </a:moveTo>
                  <a:lnTo>
                    <a:pt x="171704" y="0"/>
                  </a:lnTo>
                  <a:lnTo>
                    <a:pt x="171704" y="3408680"/>
                  </a:lnTo>
                  <a:lnTo>
                    <a:pt x="0" y="3408680"/>
                  </a:lnTo>
                  <a:close/>
                </a:path>
              </a:pathLst>
            </a:custGeom>
            <a:solidFill>
              <a:srgbClr val="79D957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9971532" y="5212080"/>
            <a:ext cx="6103620" cy="384048"/>
            <a:chOff x="0" y="0"/>
            <a:chExt cx="8138160" cy="51206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8138160" cy="512064"/>
            </a:xfrm>
            <a:custGeom>
              <a:avLst/>
              <a:gdLst/>
              <a:ahLst/>
              <a:cxnLst/>
              <a:rect r="r" b="b" t="t" l="l"/>
              <a:pathLst>
                <a:path h="512064" w="8138160">
                  <a:moveTo>
                    <a:pt x="0" y="0"/>
                  </a:moveTo>
                  <a:lnTo>
                    <a:pt x="8138160" y="0"/>
                  </a:lnTo>
                  <a:lnTo>
                    <a:pt x="813816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9672" r="0" b="-259672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9525"/>
              <a:ext cx="813816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Mitigación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9971532" y="5815584"/>
            <a:ext cx="6103620" cy="1467612"/>
            <a:chOff x="0" y="0"/>
            <a:chExt cx="8138160" cy="1956816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138160" cy="1956816"/>
            </a:xfrm>
            <a:custGeom>
              <a:avLst/>
              <a:gdLst/>
              <a:ahLst/>
              <a:cxnLst/>
              <a:rect r="r" b="b" t="t" l="l"/>
              <a:pathLst>
                <a:path h="1956816" w="8138160">
                  <a:moveTo>
                    <a:pt x="0" y="0"/>
                  </a:moveTo>
                  <a:lnTo>
                    <a:pt x="8138160" y="0"/>
                  </a:lnTo>
                  <a:lnTo>
                    <a:pt x="8138160" y="1956816"/>
                  </a:lnTo>
                  <a:lnTo>
                    <a:pt x="0" y="19568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035" r="0" b="-31035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8138160" cy="1956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Priorización de actividades.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Seguimiento periódico por sprints.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Pruebas progresivas y ajustes de alcance.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183642"/>
            <a:chOff x="0" y="0"/>
            <a:chExt cx="24408790" cy="244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44856"/>
            </a:xfrm>
            <a:custGeom>
              <a:avLst/>
              <a:gdLst/>
              <a:ahLst/>
              <a:cxnLst/>
              <a:rect r="r" b="b" t="t" l="l"/>
              <a:pathLst>
                <a:path h="244856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44856"/>
                  </a:lnTo>
                  <a:lnTo>
                    <a:pt x="0" y="244856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55067"/>
            <a:ext cx="18306593" cy="67056"/>
            <a:chOff x="0" y="0"/>
            <a:chExt cx="24408790" cy="894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89408"/>
            </a:xfrm>
            <a:custGeom>
              <a:avLst/>
              <a:gdLst/>
              <a:ahLst/>
              <a:cxnLst/>
              <a:rect r="r" b="b" t="t" l="l"/>
              <a:pathLst>
                <a:path h="89408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89408"/>
                  </a:lnTo>
                  <a:lnTo>
                    <a:pt x="0" y="89408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50392" y="630936"/>
            <a:ext cx="12207240" cy="576072"/>
            <a:chOff x="0" y="0"/>
            <a:chExt cx="1627632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276320" cy="768096"/>
            </a:xfrm>
            <a:custGeom>
              <a:avLst/>
              <a:gdLst/>
              <a:ahLst/>
              <a:cxnLst/>
              <a:rect r="r" b="b" t="t" l="l"/>
              <a:pathLst>
                <a:path h="768096" w="16276320">
                  <a:moveTo>
                    <a:pt x="0" y="0"/>
                  </a:moveTo>
                  <a:lnTo>
                    <a:pt x="16276320" y="0"/>
                  </a:lnTo>
                  <a:lnTo>
                    <a:pt x="1627632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2897" r="0" b="-36289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627632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Evidencias esperadas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7824" y="1275588"/>
            <a:ext cx="10698480" cy="356616"/>
            <a:chOff x="0" y="0"/>
            <a:chExt cx="14264640" cy="475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64639" cy="475488"/>
            </a:xfrm>
            <a:custGeom>
              <a:avLst/>
              <a:gdLst/>
              <a:ahLst/>
              <a:cxnLst/>
              <a:rect r="r" b="b" t="t" l="l"/>
              <a:pathLst>
                <a:path h="475488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426464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Cómo se demostrará el logro de las actividades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349472" y="452628"/>
            <a:ext cx="918972" cy="781812"/>
            <a:chOff x="0" y="0"/>
            <a:chExt cx="1225296" cy="1042416"/>
          </a:xfrm>
        </p:grpSpPr>
        <p:sp>
          <p:nvSpPr>
            <p:cNvPr name="Freeform 13" id="13" descr="/mnt/data/logo_lbwus_0.png"/>
            <p:cNvSpPr/>
            <p:nvPr/>
          </p:nvSpPr>
          <p:spPr>
            <a:xfrm flipH="false" flipV="false" rot="0">
              <a:off x="0" y="0"/>
              <a:ext cx="1225296" cy="1042416"/>
            </a:xfrm>
            <a:custGeom>
              <a:avLst/>
              <a:gdLst/>
              <a:ahLst/>
              <a:cxnLst/>
              <a:rect r="r" b="b" t="t" l="l"/>
              <a:pathLst>
                <a:path h="1042416" w="1225296">
                  <a:moveTo>
                    <a:pt x="0" y="0"/>
                  </a:moveTo>
                  <a:lnTo>
                    <a:pt x="1225296" y="0"/>
                  </a:lnTo>
                  <a:lnTo>
                    <a:pt x="1225296" y="1042416"/>
                  </a:lnTo>
                  <a:lnTo>
                    <a:pt x="0" y="1042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7" r="0" b="-4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50392" y="9697212"/>
            <a:ext cx="6858000" cy="274320"/>
            <a:chOff x="0" y="0"/>
            <a:chExt cx="9144000" cy="3657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365760"/>
            </a:xfrm>
            <a:custGeom>
              <a:avLst/>
              <a:gdLst/>
              <a:ahLst/>
              <a:cxnLst/>
              <a:rect r="r" b="b" t="t" l="l"/>
              <a:pathLst>
                <a:path h="36576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Proyecto APT · LBWUS · Grupo 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25544" y="9697212"/>
            <a:ext cx="384048" cy="274320"/>
            <a:chOff x="0" y="0"/>
            <a:chExt cx="512064" cy="3657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12064" cy="365760"/>
            </a:xfrm>
            <a:custGeom>
              <a:avLst/>
              <a:gdLst/>
              <a:ahLst/>
              <a:cxnLst/>
              <a:rect r="r" b="b" t="t" l="l"/>
              <a:pathLst>
                <a:path h="36576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1645" t="0" r="-4164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512064" cy="365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350"/>
                </a:lnSpc>
              </a:pPr>
              <a:r>
                <a:rPr lang="en-US" sz="1125">
                  <a:solidFill>
                    <a:srgbClr val="7B8794"/>
                  </a:solidFill>
                  <a:latin typeface="Aptos"/>
                  <a:ea typeface="Aptos"/>
                  <a:cs typeface="Aptos"/>
                  <a:sym typeface="Aptos"/>
                </a:rPr>
                <a:t>13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58240" y="2118360"/>
            <a:ext cx="7284720" cy="1661160"/>
            <a:chOff x="0" y="0"/>
            <a:chExt cx="9712960" cy="22148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712960" cy="2214880"/>
            </a:xfrm>
            <a:custGeom>
              <a:avLst/>
              <a:gdLst/>
              <a:ahLst/>
              <a:cxnLst/>
              <a:rect r="r" b="b" t="t" l="l"/>
              <a:pathLst>
                <a:path h="2214880" w="9712960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9565259" y="0"/>
                  </a:lnTo>
                  <a:cubicBezTo>
                    <a:pt x="9646793" y="0"/>
                    <a:pt x="9712960" y="66167"/>
                    <a:pt x="9712960" y="147701"/>
                  </a:cubicBezTo>
                  <a:lnTo>
                    <a:pt x="9712960" y="2067179"/>
                  </a:lnTo>
                  <a:cubicBezTo>
                    <a:pt x="9712960" y="2148713"/>
                    <a:pt x="9646793" y="2214880"/>
                    <a:pt x="9565259" y="2214880"/>
                  </a:cubicBezTo>
                  <a:lnTo>
                    <a:pt x="147701" y="2214880"/>
                  </a:lnTo>
                  <a:cubicBezTo>
                    <a:pt x="66167" y="2214880"/>
                    <a:pt x="0" y="2148713"/>
                    <a:pt x="0" y="206717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56335" y="2116455"/>
            <a:ext cx="128778" cy="1664970"/>
            <a:chOff x="0" y="0"/>
            <a:chExt cx="171704" cy="22199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71704" cy="2219960"/>
            </a:xfrm>
            <a:custGeom>
              <a:avLst/>
              <a:gdLst/>
              <a:ahLst/>
              <a:cxnLst/>
              <a:rect r="r" b="b" t="t" l="l"/>
              <a:pathLst>
                <a:path h="2219960" w="171704">
                  <a:moveTo>
                    <a:pt x="0" y="0"/>
                  </a:moveTo>
                  <a:lnTo>
                    <a:pt x="171704" y="0"/>
                  </a:lnTo>
                  <a:lnTo>
                    <a:pt x="17170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467612" y="2372868"/>
            <a:ext cx="6652260" cy="384048"/>
            <a:chOff x="0" y="0"/>
            <a:chExt cx="8869680" cy="51206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869680" cy="512064"/>
            </a:xfrm>
            <a:custGeom>
              <a:avLst/>
              <a:gdLst/>
              <a:ahLst/>
              <a:cxnLst/>
              <a:rect r="r" b="b" t="t" l="l"/>
              <a:pathLst>
                <a:path h="512064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7508" r="0" b="-287508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886968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Documentación técnica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467612" y="2976372"/>
            <a:ext cx="6652260" cy="576072"/>
            <a:chOff x="0" y="0"/>
            <a:chExt cx="8869680" cy="76809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869680" cy="768096"/>
            </a:xfrm>
            <a:custGeom>
              <a:avLst/>
              <a:gdLst/>
              <a:ahLst/>
              <a:cxnLst/>
              <a:rect r="r" b="b" t="t" l="l"/>
              <a:pathLst>
                <a:path h="7680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005" r="0" b="-175005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886968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Requerimientos, arquitectura, modelo de datos, planificación y decisiones.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387840" y="2118360"/>
            <a:ext cx="7284720" cy="1661160"/>
            <a:chOff x="0" y="0"/>
            <a:chExt cx="9712960" cy="22148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712960" cy="2214880"/>
            </a:xfrm>
            <a:custGeom>
              <a:avLst/>
              <a:gdLst/>
              <a:ahLst/>
              <a:cxnLst/>
              <a:rect r="r" b="b" t="t" l="l"/>
              <a:pathLst>
                <a:path h="2214880" w="9712960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9565259" y="0"/>
                  </a:lnTo>
                  <a:cubicBezTo>
                    <a:pt x="9646793" y="0"/>
                    <a:pt x="9712960" y="66167"/>
                    <a:pt x="9712960" y="147701"/>
                  </a:cubicBezTo>
                  <a:lnTo>
                    <a:pt x="9712960" y="2067179"/>
                  </a:lnTo>
                  <a:cubicBezTo>
                    <a:pt x="9712960" y="2148713"/>
                    <a:pt x="9646793" y="2214880"/>
                    <a:pt x="9565259" y="2214880"/>
                  </a:cubicBezTo>
                  <a:lnTo>
                    <a:pt x="147701" y="2214880"/>
                  </a:lnTo>
                  <a:cubicBezTo>
                    <a:pt x="66167" y="2214880"/>
                    <a:pt x="0" y="2148713"/>
                    <a:pt x="0" y="206717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9385935" y="2116455"/>
            <a:ext cx="128778" cy="1664970"/>
            <a:chOff x="0" y="0"/>
            <a:chExt cx="171704" cy="22199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71704" cy="2219960"/>
            </a:xfrm>
            <a:custGeom>
              <a:avLst/>
              <a:gdLst/>
              <a:ahLst/>
              <a:cxnLst/>
              <a:rect r="r" b="b" t="t" l="l"/>
              <a:pathLst>
                <a:path h="2219960" w="171704">
                  <a:moveTo>
                    <a:pt x="0" y="0"/>
                  </a:moveTo>
                  <a:lnTo>
                    <a:pt x="171704" y="0"/>
                  </a:lnTo>
                  <a:lnTo>
                    <a:pt x="17170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9697212" y="2372868"/>
            <a:ext cx="6652260" cy="384048"/>
            <a:chOff x="0" y="0"/>
            <a:chExt cx="8869680" cy="51206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869680" cy="512064"/>
            </a:xfrm>
            <a:custGeom>
              <a:avLst/>
              <a:gdLst/>
              <a:ahLst/>
              <a:cxnLst/>
              <a:rect r="r" b="b" t="t" l="l"/>
              <a:pathLst>
                <a:path h="512064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7508" r="0" b="-287508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886968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Pruebas y validación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697212" y="2976372"/>
            <a:ext cx="6652260" cy="576072"/>
            <a:chOff x="0" y="0"/>
            <a:chExt cx="8869680" cy="76809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869680" cy="768096"/>
            </a:xfrm>
            <a:custGeom>
              <a:avLst/>
              <a:gdLst/>
              <a:ahLst/>
              <a:cxnLst/>
              <a:rect r="r" b="b" t="t" l="l"/>
              <a:pathLst>
                <a:path h="7680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005" r="0" b="-17500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886968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Registro de pruebas, incidencias y mejoras implementadas.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158240" y="4518660"/>
            <a:ext cx="7284720" cy="1661160"/>
            <a:chOff x="0" y="0"/>
            <a:chExt cx="9712960" cy="22148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712960" cy="2214880"/>
            </a:xfrm>
            <a:custGeom>
              <a:avLst/>
              <a:gdLst/>
              <a:ahLst/>
              <a:cxnLst/>
              <a:rect r="r" b="b" t="t" l="l"/>
              <a:pathLst>
                <a:path h="2214880" w="9712960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9565259" y="0"/>
                  </a:lnTo>
                  <a:cubicBezTo>
                    <a:pt x="9646793" y="0"/>
                    <a:pt x="9712960" y="66167"/>
                    <a:pt x="9712960" y="147701"/>
                  </a:cubicBezTo>
                  <a:lnTo>
                    <a:pt x="9712960" y="2067179"/>
                  </a:lnTo>
                  <a:cubicBezTo>
                    <a:pt x="9712960" y="2148713"/>
                    <a:pt x="9646793" y="2214880"/>
                    <a:pt x="9565259" y="2214880"/>
                  </a:cubicBezTo>
                  <a:lnTo>
                    <a:pt x="147701" y="2214880"/>
                  </a:lnTo>
                  <a:cubicBezTo>
                    <a:pt x="66167" y="2214880"/>
                    <a:pt x="0" y="2148713"/>
                    <a:pt x="0" y="206717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156335" y="4516755"/>
            <a:ext cx="128778" cy="1664970"/>
            <a:chOff x="0" y="0"/>
            <a:chExt cx="171704" cy="221996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71704" cy="2219960"/>
            </a:xfrm>
            <a:custGeom>
              <a:avLst/>
              <a:gdLst/>
              <a:ahLst/>
              <a:cxnLst/>
              <a:rect r="r" b="b" t="t" l="l"/>
              <a:pathLst>
                <a:path h="2219960" w="171704">
                  <a:moveTo>
                    <a:pt x="0" y="0"/>
                  </a:moveTo>
                  <a:lnTo>
                    <a:pt x="171704" y="0"/>
                  </a:lnTo>
                  <a:lnTo>
                    <a:pt x="17170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FFD85A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467612" y="4773168"/>
            <a:ext cx="6652260" cy="384048"/>
            <a:chOff x="0" y="0"/>
            <a:chExt cx="8869680" cy="51206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869680" cy="512064"/>
            </a:xfrm>
            <a:custGeom>
              <a:avLst/>
              <a:gdLst/>
              <a:ahLst/>
              <a:cxnLst/>
              <a:rect r="r" b="b" t="t" l="l"/>
              <a:pathLst>
                <a:path h="512064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7508" r="0" b="-287508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886968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Aplicación web funcional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467612" y="5376672"/>
            <a:ext cx="6652260" cy="576072"/>
            <a:chOff x="0" y="0"/>
            <a:chExt cx="8869680" cy="76809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869680" cy="768096"/>
            </a:xfrm>
            <a:custGeom>
              <a:avLst/>
              <a:gdLst/>
              <a:ahLst/>
              <a:cxnLst/>
              <a:rect r="r" b="b" t="t" l="l"/>
              <a:pathLst>
                <a:path h="7680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005" r="0" b="-17500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886968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Funcionalidades integradas, pagos Transbank y despliegue Railway.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387840" y="4518660"/>
            <a:ext cx="7284720" cy="1661160"/>
            <a:chOff x="0" y="0"/>
            <a:chExt cx="9712960" cy="221488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9712960" cy="2214880"/>
            </a:xfrm>
            <a:custGeom>
              <a:avLst/>
              <a:gdLst/>
              <a:ahLst/>
              <a:cxnLst/>
              <a:rect r="r" b="b" t="t" l="l"/>
              <a:pathLst>
                <a:path h="2214880" w="9712960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9565259" y="0"/>
                  </a:lnTo>
                  <a:cubicBezTo>
                    <a:pt x="9646793" y="0"/>
                    <a:pt x="9712960" y="66167"/>
                    <a:pt x="9712960" y="147701"/>
                  </a:cubicBezTo>
                  <a:lnTo>
                    <a:pt x="9712960" y="2067179"/>
                  </a:lnTo>
                  <a:cubicBezTo>
                    <a:pt x="9712960" y="2148713"/>
                    <a:pt x="9646793" y="2214880"/>
                    <a:pt x="9565259" y="2214880"/>
                  </a:cubicBezTo>
                  <a:lnTo>
                    <a:pt x="147701" y="2214880"/>
                  </a:lnTo>
                  <a:cubicBezTo>
                    <a:pt x="66167" y="2214880"/>
                    <a:pt x="0" y="2148713"/>
                    <a:pt x="0" y="206717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CE5EF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385935" y="4516755"/>
            <a:ext cx="128778" cy="1664970"/>
            <a:chOff x="0" y="0"/>
            <a:chExt cx="171704" cy="221996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71704" cy="2219960"/>
            </a:xfrm>
            <a:custGeom>
              <a:avLst/>
              <a:gdLst/>
              <a:ahLst/>
              <a:cxnLst/>
              <a:rect r="r" b="b" t="t" l="l"/>
              <a:pathLst>
                <a:path h="2219960" w="171704">
                  <a:moveTo>
                    <a:pt x="0" y="0"/>
                  </a:moveTo>
                  <a:lnTo>
                    <a:pt x="171704" y="0"/>
                  </a:lnTo>
                  <a:lnTo>
                    <a:pt x="17170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79D957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9697212" y="4773168"/>
            <a:ext cx="6652260" cy="384048"/>
            <a:chOff x="0" y="0"/>
            <a:chExt cx="8869680" cy="512064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8869680" cy="512064"/>
            </a:xfrm>
            <a:custGeom>
              <a:avLst/>
              <a:gdLst/>
              <a:ahLst/>
              <a:cxnLst/>
              <a:rect r="r" b="b" t="t" l="l"/>
              <a:pathLst>
                <a:path h="512064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7508" r="0" b="-287508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886968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Base de datos MongoDB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697212" y="5376672"/>
            <a:ext cx="6652260" cy="576072"/>
            <a:chOff x="0" y="0"/>
            <a:chExt cx="8869680" cy="76809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8869680" cy="768096"/>
            </a:xfrm>
            <a:custGeom>
              <a:avLst/>
              <a:gdLst/>
              <a:ahLst/>
              <a:cxnLst/>
              <a:rect r="r" b="b" t="t" l="l"/>
              <a:pathLst>
                <a:path h="7680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005" r="0" b="-17500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886968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526071"/>
                  </a:solidFill>
                  <a:latin typeface="Aptos"/>
                  <a:ea typeface="Aptos"/>
                  <a:cs typeface="Aptos"/>
                  <a:sym typeface="Aptos"/>
                </a:rPr>
                <a:t>Modelo de datos implementado para soportar los requerimientos.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508760" y="8161020"/>
            <a:ext cx="15224760" cy="644652"/>
            <a:chOff x="0" y="0"/>
            <a:chExt cx="20299680" cy="85953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0299680" cy="859536"/>
            </a:xfrm>
            <a:custGeom>
              <a:avLst/>
              <a:gdLst/>
              <a:ahLst/>
              <a:cxnLst/>
              <a:rect r="r" b="b" t="t" l="l"/>
              <a:pathLst>
                <a:path h="859536" w="20299680">
                  <a:moveTo>
                    <a:pt x="0" y="0"/>
                  </a:moveTo>
                  <a:lnTo>
                    <a:pt x="20299680" y="0"/>
                  </a:lnTo>
                  <a:lnTo>
                    <a:pt x="20299680" y="859536"/>
                  </a:lnTo>
                  <a:lnTo>
                    <a:pt x="0" y="859536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9525"/>
              <a:ext cx="20299680" cy="8690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15"/>
                </a:lnSpc>
              </a:pPr>
              <a:r>
                <a:rPr lang="en-US" sz="2429" b="true">
                  <a:solidFill>
                    <a:srgbClr val="17213A"/>
                  </a:solidFill>
                  <a:latin typeface="Aptos Bold"/>
                  <a:ea typeface="Aptos Bold"/>
                  <a:cs typeface="Aptos Bold"/>
                  <a:sym typeface="Aptos Bold"/>
                </a:rPr>
                <a:t>Las evidencias validarán planificación, desarrollo, integración, pruebas y cumplimiento de objetivos.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593" cy="211074"/>
            <a:chOff x="0" y="0"/>
            <a:chExt cx="24408790" cy="2814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281432"/>
            </a:xfrm>
            <a:custGeom>
              <a:avLst/>
              <a:gdLst/>
              <a:ahLst/>
              <a:cxnLst/>
              <a:rect r="r" b="b" t="t" l="l"/>
              <a:pathLst>
                <a:path h="281432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281432"/>
                  </a:lnTo>
                  <a:lnTo>
                    <a:pt x="0" y="281432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182499"/>
            <a:ext cx="18306593" cy="73914"/>
            <a:chOff x="0" y="0"/>
            <a:chExt cx="24408790" cy="9855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98552"/>
            </a:xfrm>
            <a:custGeom>
              <a:avLst/>
              <a:gdLst/>
              <a:ahLst/>
              <a:cxnLst/>
              <a:rect r="r" b="b" t="t" l="l"/>
              <a:pathLst>
                <a:path h="98552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98552"/>
                  </a:lnTo>
                  <a:lnTo>
                    <a:pt x="0" y="98552"/>
                  </a:lnTo>
                  <a:close/>
                </a:path>
              </a:pathLst>
            </a:custGeom>
            <a:solidFill>
              <a:srgbClr val="37CFE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023860" y="1118685"/>
            <a:ext cx="1714500" cy="1453896"/>
            <a:chOff x="0" y="0"/>
            <a:chExt cx="2286000" cy="1938528"/>
          </a:xfrm>
        </p:grpSpPr>
        <p:sp>
          <p:nvSpPr>
            <p:cNvPr name="Freeform 7" id="7" descr="/mnt/data/logo_lbwus_0.png"/>
            <p:cNvSpPr/>
            <p:nvPr/>
          </p:nvSpPr>
          <p:spPr>
            <a:xfrm flipH="false" flipV="false" rot="0">
              <a:off x="0" y="0"/>
              <a:ext cx="2286000" cy="1938528"/>
            </a:xfrm>
            <a:custGeom>
              <a:avLst/>
              <a:gdLst/>
              <a:ahLst/>
              <a:cxnLst/>
              <a:rect r="r" b="b" t="t" l="l"/>
              <a:pathLst>
                <a:path h="1938528" w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1938528"/>
                  </a:lnTo>
                  <a:lnTo>
                    <a:pt x="0" y="1938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0" r="0" b="-209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6035040" y="3039306"/>
            <a:ext cx="7406640" cy="713232"/>
            <a:chOff x="0" y="0"/>
            <a:chExt cx="9875520" cy="9509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875520" cy="950976"/>
            </a:xfrm>
            <a:custGeom>
              <a:avLst/>
              <a:gdLst/>
              <a:ahLst/>
              <a:cxnLst/>
              <a:rect r="r" b="b" t="t" l="l"/>
              <a:pathLst>
                <a:path h="950976" w="9875520">
                  <a:moveTo>
                    <a:pt x="0" y="0"/>
                  </a:moveTo>
                  <a:lnTo>
                    <a:pt x="9875520" y="0"/>
                  </a:lnTo>
                  <a:lnTo>
                    <a:pt x="9875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2344" r="0" b="-15234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9875520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220"/>
                </a:lnSpc>
              </a:pPr>
              <a:r>
                <a:rPr lang="en-US" sz="435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Resultado esperado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2971800" y="4219263"/>
            <a:ext cx="12344400" cy="1527442"/>
            <a:chOff x="0" y="0"/>
            <a:chExt cx="16459200" cy="203659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459200" cy="2036590"/>
            </a:xfrm>
            <a:custGeom>
              <a:avLst/>
              <a:gdLst/>
              <a:ahLst/>
              <a:cxnLst/>
              <a:rect r="r" b="b" t="t" l="l"/>
              <a:pathLst>
                <a:path h="203659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2036590"/>
                  </a:lnTo>
                  <a:lnTo>
                    <a:pt x="0" y="20365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2574" r="0" b="-102371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6459200" cy="20365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30"/>
                </a:lnSpc>
              </a:pPr>
              <a:r>
                <a:rPr lang="en-US" sz="3525" b="true">
                  <a:solidFill>
                    <a:srgbClr val="FFD85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Una plataforma web funcional, integrada y desplegada que centralice la búsqueda y gestión de tutorías.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34440" y="7077456"/>
            <a:ext cx="9601200" cy="754380"/>
            <a:chOff x="0" y="0"/>
            <a:chExt cx="128016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2801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2801600">
                  <a:moveTo>
                    <a:pt x="0" y="0"/>
                  </a:moveTo>
                  <a:lnTo>
                    <a:pt x="12801600" y="0"/>
                  </a:lnTo>
                  <a:lnTo>
                    <a:pt x="128016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7991" r="0" b="-19799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12801600" cy="1005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LBWUS – Learn Better With Us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34440" y="8010144"/>
            <a:ext cx="6858000" cy="356616"/>
            <a:chOff x="0" y="0"/>
            <a:chExt cx="9144000" cy="47548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9144000" cy="475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CFE0F4"/>
                  </a:solidFill>
                  <a:latin typeface="Aptos"/>
                  <a:ea typeface="Aptos"/>
                  <a:cs typeface="Aptos"/>
                  <a:sym typeface="Aptos"/>
                </a:rPr>
                <a:t>Proyecto APT · Fase 1 · Grupo 5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15156587" y="7454646"/>
            <a:ext cx="3059227" cy="2753304"/>
          </a:xfrm>
          <a:custGeom>
            <a:avLst/>
            <a:gdLst/>
            <a:ahLst/>
            <a:cxnLst/>
            <a:rect r="r" b="b" t="t" l="l"/>
            <a:pathLst>
              <a:path h="2753304" w="3059227">
                <a:moveTo>
                  <a:pt x="0" y="0"/>
                </a:moveTo>
                <a:lnTo>
                  <a:pt x="3059227" y="0"/>
                </a:lnTo>
                <a:lnTo>
                  <a:pt x="3059227" y="2753304"/>
                </a:lnTo>
                <a:lnTo>
                  <a:pt x="0" y="27533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DAHT4Ul5dRY</dc:identifier>
  <dcterms:modified xsi:type="dcterms:W3CDTF">2011-08-01T06:04:30Z</dcterms:modified>
  <cp:revision>1</cp:revision>
  <dc:title>LBWUS ProyectoAPT Fase1.pptx</dc:title>
</cp:coreProperties>
</file>